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E3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1127455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DevOps CA2 Practical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731520"/>
            <a:ext cx="4343400" cy="6126480"/>
          </a:xfrm>
          <a:prstGeom prst="round2SameRect">
            <a:avLst>
              <a:gd name="adj1" fmla="val 38000"/>
              <a:gd name="adj2" fmla="val 0"/>
            </a:avLst>
          </a:prstGeom>
          <a:solidFill>
            <a:srgbClr val="F5EFE3"/>
          </a:solidFill>
          <a:ln>
            <a:noFill/>
          </a:ln>
        </p:spPr>
      </p:sp>
      <p:sp>
        <p:nvSpPr>
          <p:cNvPr id="201" name="Dot 201"/>
          <p:cNvSpPr/>
          <p:nvPr/>
        </p:nvSpPr>
        <p:spPr>
          <a:xfrm>
            <a:off x="7063740" y="1165860"/>
            <a:ext cx="868680" cy="868680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2" name="Dot 202"/>
          <p:cNvSpPr/>
          <p:nvPr/>
        </p:nvSpPr>
        <p:spPr>
          <a:xfrm>
            <a:off x="11430000" y="5212080"/>
            <a:ext cx="457200" cy="457200"/>
          </a:xfrm>
          <a:prstGeom prst="ellipse">
            <a:avLst/>
          </a:prstGeom>
          <a:solidFill>
            <a:srgbClr val="4B6E94"/>
          </a:solidFill>
          <a:ln>
            <a:noFill/>
          </a:ln>
        </p:spPr>
      </p:sp>
      <p:sp>
        <p:nvSpPr>
          <p:cNvPr id="203" name="Rule 203"/>
          <p:cNvSpPr/>
          <p:nvPr/>
        </p:nvSpPr>
        <p:spPr>
          <a:xfrm>
            <a:off x="731520" y="4343400"/>
            <a:ext cx="5669280" cy="0"/>
          </a:xfrm>
          <a:prstGeom prst="line">
            <a:avLst/>
          </a:prstGeom>
          <a:noFill/>
          <a:ln w="15875">
            <a:solidFill>
              <a:srgbClr val="2F6A64"/>
            </a:solidFill>
            <a:prstDash val="solid"/>
          </a:ln>
        </p:spPr>
      </p:sp>
      <p:sp>
        <p:nvSpPr>
          <p:cNvPr id="204" name="Dot 204"/>
          <p:cNvSpPr/>
          <p:nvPr/>
        </p:nvSpPr>
        <p:spPr>
          <a:xfrm>
            <a:off x="653796" y="4265676"/>
            <a:ext cx="155448" cy="155448"/>
          </a:xfrm>
          <a:prstGeom prst="ellipse">
            <a:avLst/>
          </a:prstGeom>
          <a:solidFill>
            <a:srgbClr val="F5EFE3"/>
          </a:solidFill>
          <a:ln>
            <a:noFill/>
          </a:ln>
        </p:spPr>
      </p:sp>
      <p:sp>
        <p:nvSpPr>
          <p:cNvPr id="205" name="Dot 205"/>
          <p:cNvSpPr/>
          <p:nvPr/>
        </p:nvSpPr>
        <p:spPr>
          <a:xfrm>
            <a:off x="1787652" y="4265676"/>
            <a:ext cx="155448" cy="155448"/>
          </a:xfrm>
          <a:prstGeom prst="ellipse">
            <a:avLst/>
          </a:prstGeom>
          <a:solidFill>
            <a:srgbClr val="F5EFE3"/>
          </a:solidFill>
          <a:ln>
            <a:noFill/>
          </a:ln>
        </p:spPr>
      </p:sp>
      <p:sp>
        <p:nvSpPr>
          <p:cNvPr id="206" name="Dot 206"/>
          <p:cNvSpPr/>
          <p:nvPr/>
        </p:nvSpPr>
        <p:spPr>
          <a:xfrm>
            <a:off x="2921508" y="4265676"/>
            <a:ext cx="155448" cy="155448"/>
          </a:xfrm>
          <a:prstGeom prst="ellipse">
            <a:avLst/>
          </a:prstGeom>
          <a:solidFill>
            <a:srgbClr val="F5EFE3"/>
          </a:solidFill>
          <a:ln>
            <a:noFill/>
          </a:ln>
        </p:spPr>
      </p:sp>
      <p:sp>
        <p:nvSpPr>
          <p:cNvPr id="207" name="Dot 207"/>
          <p:cNvSpPr/>
          <p:nvPr/>
        </p:nvSpPr>
        <p:spPr>
          <a:xfrm>
            <a:off x="4055364" y="4265676"/>
            <a:ext cx="155448" cy="155448"/>
          </a:xfrm>
          <a:prstGeom prst="ellipse">
            <a:avLst/>
          </a:prstGeom>
          <a:solidFill>
            <a:srgbClr val="F5EFE3"/>
          </a:solidFill>
          <a:ln>
            <a:noFill/>
          </a:ln>
        </p:spPr>
      </p:sp>
      <p:sp>
        <p:nvSpPr>
          <p:cNvPr id="208" name="Dot 208"/>
          <p:cNvSpPr/>
          <p:nvPr/>
        </p:nvSpPr>
        <p:spPr>
          <a:xfrm>
            <a:off x="5189220" y="4265676"/>
            <a:ext cx="155448" cy="155448"/>
          </a:xfrm>
          <a:prstGeom prst="ellipse">
            <a:avLst/>
          </a:prstGeom>
          <a:solidFill>
            <a:srgbClr val="F5EFE3"/>
          </a:solidFill>
          <a:ln>
            <a:noFill/>
          </a:ln>
        </p:spPr>
      </p:sp>
      <p:sp>
        <p:nvSpPr>
          <p:cNvPr id="209" name="Dot 209"/>
          <p:cNvSpPr/>
          <p:nvPr/>
        </p:nvSpPr>
        <p:spPr>
          <a:xfrm>
            <a:off x="6172200" y="4114800"/>
            <a:ext cx="457200" cy="457200"/>
          </a:xfrm>
          <a:prstGeom prst="ellipse">
            <a:avLst/>
          </a:prstGeom>
          <a:noFill/>
          <a:ln w="15875">
            <a:solidFill>
              <a:srgbClr val="CB6648"/>
            </a:solidFill>
            <a:prstDash val="solid"/>
          </a:ln>
        </p:spPr>
      </p:sp>
      <p:sp>
        <p:nvSpPr>
          <p:cNvPr id="210" name="Dot 210"/>
          <p:cNvSpPr/>
          <p:nvPr/>
        </p:nvSpPr>
        <p:spPr>
          <a:xfrm>
            <a:off x="6281928" y="4224528"/>
            <a:ext cx="237744" cy="237744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7" name="Text 25"/>
          <p:cNvSpPr txBox="1"/>
          <p:nvPr/>
        </p:nvSpPr>
        <p:spPr>
          <a:xfrm>
            <a:off x="731520" y="146304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FFCF6"/>
                </a:solidFill>
                <a:latin typeface="Bookman Old Style"/>
                <a:ea typeface="Bookman Old Style"/>
                <a:cs typeface="Bookman Old Style"/>
              </a:rPr>
              <a:t>DevOps CA2</a:t>
            </a:r>
            <a:endParaRPr lang="en-US" sz="52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0B49C"/>
                </a:solidFill>
                <a:latin typeface="Bookman Old Style"/>
                <a:ea typeface="Bookman Old Style"/>
                <a:cs typeface="Bookman Old Style"/>
              </a:rPr>
              <a:t>Practical Project</a:t>
            </a:r>
            <a:endParaRPr lang="en-US" sz="520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29260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Gayatri Patil — 23070122096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34290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Pritika Kurup — 23070122167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7909560" y="3931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Jesline Pinto — 23070122243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909560" y="44348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Omika Shrestha — 23070122245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909560" y="5029200"/>
            <a:ext cx="3154680" cy="0"/>
          </a:xfrm>
          <a:prstGeom prst="line">
            <a:avLst/>
          </a:prstGeom>
          <a:noFill/>
          <a:ln w="12700">
            <a:solidFill>
              <a:srgbClr val="D9CFB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0956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B6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909560" y="5669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F3B"/>
                </a:solidFill>
                <a:latin typeface="Bookman Old Style"/>
                <a:ea typeface="Bookman Old Style"/>
                <a:cs typeface="Bookman Old Style"/>
              </a:rPr>
              <a:t>Arijit Dutta Sir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468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02C"/>
                </a:solidFill>
                <a:latin typeface="Bookman Old Style"/>
                <a:ea typeface="Bookman Old Style"/>
                <a:cs typeface="Bookman Old Style"/>
              </a:rPr>
              <a:t>End-to-End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28800" cy="914400"/>
          </a:xfrm>
          <a:prstGeom prst="round2DiagRect">
            <a:avLst>
              <a:gd name="adj1" fmla="val 20000"/>
              <a:gd name="adj2" fmla="val 0"/>
            </a:avLst>
          </a:prstGeom>
          <a:solidFill>
            <a:srgbClr val="1F6F68"/>
          </a:solidFill>
          <a:ln>
            <a:noFill/>
          </a:ln>
        </p:spPr>
      </p:sp>
      <p:sp>
        <p:nvSpPr>
          <p:cNvPr id="5" name="Text 3"/>
          <p:cNvSpPr txBox="1"/>
          <p:nvPr/>
        </p:nvSpPr>
        <p:spPr>
          <a:xfrm>
            <a:off x="548640" y="13990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and pushes 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22576" y="1783080"/>
            <a:ext cx="384048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1325880"/>
            <a:ext cx="1828800" cy="914400"/>
          </a:xfrm>
          <a:prstGeom prst="round2DiagRect">
            <a:avLst>
              <a:gd name="adj1" fmla="val 20000"/>
              <a:gd name="adj2" fmla="val 0"/>
            </a:avLst>
          </a:prstGeom>
          <a:solidFill>
            <a:srgbClr val="1F6F68"/>
          </a:solidFill>
          <a:ln>
            <a:noFill/>
          </a:ln>
        </p:spPr>
      </p:sp>
      <p:sp>
        <p:nvSpPr>
          <p:cNvPr id="9" name="Text 7"/>
          <p:cNvSpPr txBox="1"/>
          <p:nvPr/>
        </p:nvSpPr>
        <p:spPr>
          <a:xfrm>
            <a:off x="2834640" y="13990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versions source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08576" y="1783080"/>
            <a:ext cx="384048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0" y="1325880"/>
            <a:ext cx="1828800" cy="914400"/>
          </a:xfrm>
          <a:prstGeom prst="round2DiagRect">
            <a:avLst>
              <a:gd name="adj1" fmla="val 20000"/>
              <a:gd name="adj2" fmla="val 0"/>
            </a:avLst>
          </a:prstGeom>
          <a:solidFill>
            <a:srgbClr val="1F6F68"/>
          </a:solidFill>
          <a:ln>
            <a:noFill/>
          </a:ln>
        </p:spPr>
      </p:sp>
      <p:sp>
        <p:nvSpPr>
          <p:cNvPr id="13" name="Text 11"/>
          <p:cNvSpPr txBox="1"/>
          <p:nvPr/>
        </p:nvSpPr>
        <p:spPr>
          <a:xfrm>
            <a:off x="5120640" y="13990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push / PR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94576" y="1783080"/>
            <a:ext cx="384048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1325880"/>
            <a:ext cx="1828800" cy="914400"/>
          </a:xfrm>
          <a:prstGeom prst="round2DiagRect">
            <a:avLst>
              <a:gd name="adj1" fmla="val 20000"/>
              <a:gd name="adj2" fmla="val 0"/>
            </a:avLst>
          </a:prstGeom>
          <a:solidFill>
            <a:srgbClr val="1F6F68"/>
          </a:solidFill>
          <a:ln>
            <a:noFill/>
          </a:ln>
        </p:spPr>
      </p:sp>
      <p:sp>
        <p:nvSpPr>
          <p:cNvPr id="17" name="Text 15"/>
          <p:cNvSpPr txBox="1"/>
          <p:nvPr/>
        </p:nvSpPr>
        <p:spPr>
          <a:xfrm>
            <a:off x="7406640" y="13990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Configuration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the app runtime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0576" y="1783080"/>
            <a:ext cx="384048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1325880"/>
            <a:ext cx="1828800" cy="914400"/>
          </a:xfrm>
          <a:prstGeom prst="round2DiagRect">
            <a:avLst>
              <a:gd name="adj1" fmla="val 20000"/>
              <a:gd name="adj2" fmla="val 0"/>
            </a:avLst>
          </a:prstGeom>
          <a:solidFill>
            <a:srgbClr val="4B6E94"/>
          </a:solidFill>
          <a:ln>
            <a:noFill/>
          </a:ln>
        </p:spPr>
      </p:sp>
      <p:sp>
        <p:nvSpPr>
          <p:cNvPr id="21" name="Text 19"/>
          <p:cNvSpPr txBox="1"/>
          <p:nvPr/>
        </p:nvSpPr>
        <p:spPr>
          <a:xfrm>
            <a:off x="9692640" y="13990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Flask image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515600" y="2240280"/>
            <a:ext cx="0" cy="36576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7480" y="2606040"/>
            <a:ext cx="7818120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7480" y="2606040"/>
            <a:ext cx="0" cy="36576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029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deployed to the cluster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063240"/>
            <a:ext cx="4480560" cy="1600200"/>
          </a:xfrm>
          <a:prstGeom prst="rect">
            <a:avLst/>
          </a:prstGeom>
          <a:solidFill>
            <a:srgbClr val="E3EBF2"/>
          </a:solidFill>
          <a:ln w="12700">
            <a:solidFill>
              <a:srgbClr val="4B6E94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640080" y="3127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" y="3474720"/>
            <a:ext cx="1280160" cy="100584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CF6"/>
          </a:solidFill>
          <a:ln w="12700">
            <a:solidFill>
              <a:srgbClr val="4B6E9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" y="3547872"/>
            <a:ext cx="1097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" y="3977640"/>
            <a:ext cx="1097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pods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11096" y="3977640"/>
            <a:ext cx="164592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084832" y="3474720"/>
            <a:ext cx="1280160" cy="100584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CF6"/>
          </a:solidFill>
          <a:ln w="12700">
            <a:solidFill>
              <a:srgbClr val="4B6E9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76272" y="3547872"/>
            <a:ext cx="1097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Replicas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176272" y="3977640"/>
            <a:ext cx="1097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74136" y="3977640"/>
            <a:ext cx="164592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547872" y="3474720"/>
            <a:ext cx="1280160" cy="100584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CF6"/>
          </a:solidFill>
          <a:ln w="12700">
            <a:solidFill>
              <a:srgbClr val="4B6E9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39312" y="3547872"/>
            <a:ext cx="1097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Service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639312" y="3977640"/>
            <a:ext cx="1097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:30001 → 5001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65192" y="3858768"/>
            <a:ext cx="365760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349240" y="3246120"/>
            <a:ext cx="1783080" cy="1234440"/>
          </a:xfrm>
          <a:prstGeom prst="round2DiagRect">
            <a:avLst>
              <a:gd name="adj1" fmla="val 20000"/>
              <a:gd name="adj2" fmla="val 0"/>
            </a:avLst>
          </a:prstGeom>
          <a:solidFill>
            <a:srgbClr val="4B6E94"/>
          </a:solidFill>
          <a:ln>
            <a:noFill/>
          </a:ln>
        </p:spPr>
      </p:sp>
      <p:sp>
        <p:nvSpPr>
          <p:cNvPr id="42" name="Text 40"/>
          <p:cNvSpPr txBox="1"/>
          <p:nvPr/>
        </p:nvSpPr>
        <p:spPr>
          <a:xfrm>
            <a:off x="5440680" y="3319272"/>
            <a:ext cx="160020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Application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440680" y="3863340"/>
            <a:ext cx="160020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app, exposes /metrics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59752" y="3858768"/>
            <a:ext cx="365760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543800" y="3246120"/>
            <a:ext cx="1783080" cy="1234440"/>
          </a:xfrm>
          <a:prstGeom prst="round2DiagRect">
            <a:avLst>
              <a:gd name="adj1" fmla="val 20000"/>
              <a:gd name="adj2" fmla="val 0"/>
            </a:avLst>
          </a:prstGeom>
          <a:solidFill>
            <a:srgbClr val="CB6648"/>
          </a:solidFill>
          <a:ln>
            <a:noFill/>
          </a:ln>
        </p:spPr>
      </p:sp>
      <p:sp>
        <p:nvSpPr>
          <p:cNvPr id="46" name="Text 44"/>
          <p:cNvSpPr txBox="1"/>
          <p:nvPr/>
        </p:nvSpPr>
        <p:spPr>
          <a:xfrm>
            <a:off x="7635240" y="3319272"/>
            <a:ext cx="160020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635240" y="3863340"/>
            <a:ext cx="160020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/metrics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354312" y="3858768"/>
            <a:ext cx="365760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738360" y="3246120"/>
            <a:ext cx="1783080" cy="1234440"/>
          </a:xfrm>
          <a:prstGeom prst="round2DiagRect">
            <a:avLst>
              <a:gd name="adj1" fmla="val 20000"/>
              <a:gd name="adj2" fmla="val 0"/>
            </a:avLst>
          </a:prstGeom>
          <a:solidFill>
            <a:srgbClr val="CB6648"/>
          </a:solidFill>
          <a:ln>
            <a:noFill/>
          </a:ln>
        </p:spPr>
      </p:sp>
      <p:sp>
        <p:nvSpPr>
          <p:cNvPr id="50" name="Text 48"/>
          <p:cNvSpPr txBox="1"/>
          <p:nvPr/>
        </p:nvSpPr>
        <p:spPr>
          <a:xfrm>
            <a:off x="9829800" y="3319272"/>
            <a:ext cx="160020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829800" y="3863340"/>
            <a:ext cx="160020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health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937760"/>
            <a:ext cx="3630168" cy="1371600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59536" y="502920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CONFIGURE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21792" y="534924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stores and versions the code. GitHub Actions automatically validates changes. Ansible prepares the application runtime.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279392" y="4937760"/>
            <a:ext cx="3630168" cy="1371600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681728" y="502920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B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&amp; RUN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4443984" y="534924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packages the Flask app into versioned images. Kubernetes runs 3 replicas and manages deployment, update and rollback.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101584" y="4937760"/>
            <a:ext cx="3630168" cy="1371600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503920" y="502920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B6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8266176" y="534924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collects application metrics from /metrics. Grafana visualizes application health and performance.</a:t>
            </a:r>
            <a:endParaRPr lang="en-US" sz="1200" dirty="0"/>
          </a:p>
        </p:txBody>
      </p:sp>
      <p:sp>
        <p:nvSpPr>
          <p:cNvPr id="20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1" lang="en-US" sz="1100">
                <a:solidFill>
                  <a:srgbClr val="CB6648"/>
                </a:solidFill>
                <a:latin typeface="Bookman Old Style"/>
              </a:rPr>
              <a:t>2</a:t>
            </a:fld>
            <a:endParaRPr lang="en-US"/>
          </a:p>
        </p:txBody>
      </p:sp>
      <p:sp>
        <p:nvSpPr>
          <p:cNvPr id="201" name="Dot 201"/>
          <p:cNvSpPr/>
          <p:nvPr/>
        </p:nvSpPr>
        <p:spPr>
          <a:xfrm>
            <a:off x="457200" y="265176"/>
            <a:ext cx="118872" cy="118872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3" name="Track 203"/>
          <p:cNvSpPr/>
          <p:nvPr/>
        </p:nvSpPr>
        <p:spPr>
          <a:xfrm>
            <a:off x="8732520" y="6624828"/>
            <a:ext cx="2304288" cy="0"/>
          </a:xfrm>
          <a:prstGeom prst="line">
            <a:avLst/>
          </a:prstGeom>
          <a:noFill/>
          <a:ln w="12700">
            <a:solidFill>
              <a:srgbClr val="D9CFBB"/>
            </a:solidFill>
            <a:prstDash val="solid"/>
          </a:ln>
        </p:spPr>
      </p:sp>
      <p:sp>
        <p:nvSpPr>
          <p:cNvPr id="204" name="Dot 204"/>
          <p:cNvSpPr/>
          <p:nvPr/>
        </p:nvSpPr>
        <p:spPr>
          <a:xfrm>
            <a:off x="8691372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5" name="Dot 205"/>
          <p:cNvSpPr/>
          <p:nvPr/>
        </p:nvSpPr>
        <p:spPr>
          <a:xfrm>
            <a:off x="8910828" y="6547104"/>
            <a:ext cx="155448" cy="155448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6" name="Dot 206"/>
          <p:cNvSpPr/>
          <p:nvPr/>
        </p:nvSpPr>
        <p:spPr>
          <a:xfrm>
            <a:off x="9203436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07" name="Dot 207"/>
          <p:cNvSpPr/>
          <p:nvPr/>
        </p:nvSpPr>
        <p:spPr>
          <a:xfrm>
            <a:off x="9459468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08" name="Dot 208"/>
          <p:cNvSpPr/>
          <p:nvPr/>
        </p:nvSpPr>
        <p:spPr>
          <a:xfrm>
            <a:off x="9715500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09" name="Dot 209"/>
          <p:cNvSpPr/>
          <p:nvPr/>
        </p:nvSpPr>
        <p:spPr>
          <a:xfrm>
            <a:off x="9971532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0" name="Dot 210"/>
          <p:cNvSpPr/>
          <p:nvPr/>
        </p:nvSpPr>
        <p:spPr>
          <a:xfrm>
            <a:off x="10227564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1" name="Dot 211"/>
          <p:cNvSpPr/>
          <p:nvPr/>
        </p:nvSpPr>
        <p:spPr>
          <a:xfrm>
            <a:off x="10483596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2" name="Dot 212"/>
          <p:cNvSpPr/>
          <p:nvPr/>
        </p:nvSpPr>
        <p:spPr>
          <a:xfrm>
            <a:off x="10739628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3" name="Dot 213"/>
          <p:cNvSpPr/>
          <p:nvPr/>
        </p:nvSpPr>
        <p:spPr>
          <a:xfrm>
            <a:off x="10995660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4" name="Dot 214"/>
          <p:cNvSpPr/>
          <p:nvPr/>
        </p:nvSpPr>
        <p:spPr>
          <a:xfrm>
            <a:off x="621792" y="5074920"/>
            <a:ext cx="128016" cy="12801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15" name="Dot 215"/>
          <p:cNvSpPr/>
          <p:nvPr/>
        </p:nvSpPr>
        <p:spPr>
          <a:xfrm>
            <a:off x="4443984" y="5074920"/>
            <a:ext cx="128016" cy="128016"/>
          </a:xfrm>
          <a:prstGeom prst="ellipse">
            <a:avLst/>
          </a:prstGeom>
          <a:solidFill>
            <a:srgbClr val="4B6E94"/>
          </a:solidFill>
          <a:ln>
            <a:noFill/>
          </a:ln>
        </p:spPr>
      </p:sp>
      <p:sp>
        <p:nvSpPr>
          <p:cNvPr id="216" name="Dot 216"/>
          <p:cNvSpPr/>
          <p:nvPr/>
        </p:nvSpPr>
        <p:spPr>
          <a:xfrm>
            <a:off x="8266176" y="5074920"/>
            <a:ext cx="128016" cy="128016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468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02C"/>
                </a:solidFill>
                <a:latin typeface="Bookman Old Style"/>
                <a:ea typeface="Bookman Old Style"/>
                <a:cs typeface="Bookman Old Style"/>
              </a:rPr>
              <a:t>Step 1 — Deployment Strategy: GitHub Actions CI Pipeline</a:t>
            </a:r>
            <a:endParaRPr lang="en-US" sz="2400" dirty="0"/>
          </a:p>
        </p:txBody>
      </p:sp>
      <p:sp>
        <p:nvSpPr>
          <p:cNvPr id="216" name="Offset 216"/>
          <p:cNvSpPr/>
          <p:nvPr/>
        </p:nvSpPr>
        <p:spPr>
          <a:xfrm>
            <a:off x="5614416" y="1453896"/>
            <a:ext cx="6199632" cy="1892808"/>
          </a:xfrm>
          <a:prstGeom prst="rect">
            <a:avLst/>
          </a:prstGeom>
          <a:solidFill>
            <a:srgbClr val="EFC9B8"/>
          </a:solidFill>
          <a:ln>
            <a:noFill/>
          </a:ln>
        </p:spPr>
      </p:sp>
      <p:sp>
        <p:nvSpPr>
          <p:cNvPr id="30" name="Shape 27"/>
          <p:cNvSpPr/>
          <p:nvPr/>
        </p:nvSpPr>
        <p:spPr>
          <a:xfrm>
            <a:off x="5532120" y="1371600"/>
            <a:ext cx="6199632" cy="1892808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  <p:txBody>
          <a:bodyPr/>
          <a:p/>
        </p:txBody>
      </p:sp>
      <p:pic>
        <p:nvPicPr>
          <p:cNvPr id="31" name="Image 1" descr="GitHub Actions ru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17320"/>
            <a:ext cx="6108192" cy="1801368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532120" y="345643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page: the “Flask CI Pipeline” run for commit “Add GitHub Actions CI pipeline” completed successfully (green check) on main.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532120" y="4297680"/>
            <a:ext cx="6199632" cy="1828800"/>
          </a:xfrm>
          <a:prstGeom prst="rect">
            <a:avLst/>
          </a:prstGeom>
          <a:solidFill>
            <a:srgbClr val="0E3F3B"/>
          </a:solidFill>
          <a:ln>
            <a:noFill/>
          </a:ln>
        </p:spPr>
        <p:txBody>
          <a:bodyPr/>
          <a:p/>
        </p:txBody>
      </p:sp>
      <p:sp>
        <p:nvSpPr>
          <p:cNvPr id="34" name="Text 30"/>
          <p:cNvSpPr txBox="1"/>
          <p:nvPr/>
        </p:nvSpPr>
        <p:spPr>
          <a:xfrm>
            <a:off x="585216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5852160" y="49377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automates application validation whenever code is pushed or a pull request is created, reducing manual testing and improving repeatability.</a:t>
            </a:r>
            <a:endParaRPr lang="en-US" sz="1500" dirty="0"/>
          </a:p>
        </p:txBody>
      </p:sp>
      <p:sp>
        <p:nvSpPr>
          <p:cNvPr id="20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1" lang="en-US" sz="1100">
                <a:solidFill>
                  <a:srgbClr val="CB6648"/>
                </a:solidFill>
                <a:latin typeface="Bookman Old Style"/>
              </a:rPr>
              <a:t>3</a:t>
            </a:fld>
            <a:endParaRPr lang="en-US"/>
          </a:p>
        </p:txBody>
      </p:sp>
      <p:sp>
        <p:nvSpPr>
          <p:cNvPr id="215" name="Offset 215"/>
          <p:cNvSpPr/>
          <p:nvPr/>
        </p:nvSpPr>
        <p:spPr>
          <a:xfrm>
            <a:off x="539496" y="1298448"/>
            <a:ext cx="4343400" cy="5065776"/>
          </a:xfrm>
          <a:prstGeom prst="rect">
            <a:avLst/>
          </a:prstGeom>
          <a:solidFill>
            <a:srgbClr val="C6DBD2"/>
          </a:solidFill>
          <a:ln>
            <a:noFill/>
          </a:ln>
        </p:spPr>
      </p:sp>
      <p:sp>
        <p:nvSpPr>
          <p:cNvPr id="214" name="Frame 214"/>
          <p:cNvSpPr/>
          <p:nvPr/>
        </p:nvSpPr>
        <p:spPr>
          <a:xfrm>
            <a:off x="457200" y="1216152"/>
            <a:ext cx="4343400" cy="5065776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36" name="Picture 35" descr="image(20261004-10414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325880"/>
            <a:ext cx="4123944" cy="4846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94944" y="5881421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 sz="900" b="1"/>
            </a:pPr>
            <a:r>
              <a:rPr lang="en-US" sz="1000" b="1">
                <a:solidFill>
                  <a:srgbClr val="17302C"/>
                </a:solidFill>
                <a:latin typeface="Calibri"/>
                <a:ea typeface="Calibri"/>
                <a:cs typeface="Calibri"/>
              </a:rPr>
              <a:t>Submitted CI/CD pipeline diagram</a:t>
            </a:r>
          </a:p>
        </p:txBody>
      </p:sp>
      <p:sp>
        <p:nvSpPr>
          <p:cNvPr id="201" name="Dot 201"/>
          <p:cNvSpPr/>
          <p:nvPr/>
        </p:nvSpPr>
        <p:spPr>
          <a:xfrm>
            <a:off x="457200" y="265176"/>
            <a:ext cx="118872" cy="118872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3" name="Track 203"/>
          <p:cNvSpPr/>
          <p:nvPr/>
        </p:nvSpPr>
        <p:spPr>
          <a:xfrm>
            <a:off x="8732520" y="6624828"/>
            <a:ext cx="2304288" cy="0"/>
          </a:xfrm>
          <a:prstGeom prst="line">
            <a:avLst/>
          </a:prstGeom>
          <a:noFill/>
          <a:ln w="12700">
            <a:solidFill>
              <a:srgbClr val="D9CFBB"/>
            </a:solidFill>
            <a:prstDash val="solid"/>
          </a:ln>
        </p:spPr>
      </p:sp>
      <p:sp>
        <p:nvSpPr>
          <p:cNvPr id="204" name="Dot 204"/>
          <p:cNvSpPr/>
          <p:nvPr/>
        </p:nvSpPr>
        <p:spPr>
          <a:xfrm>
            <a:off x="8691372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5" name="Dot 205"/>
          <p:cNvSpPr/>
          <p:nvPr/>
        </p:nvSpPr>
        <p:spPr>
          <a:xfrm>
            <a:off x="8947404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6" name="Dot 206"/>
          <p:cNvSpPr/>
          <p:nvPr/>
        </p:nvSpPr>
        <p:spPr>
          <a:xfrm>
            <a:off x="9166860" y="6547104"/>
            <a:ext cx="155448" cy="155448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7" name="Dot 207"/>
          <p:cNvSpPr/>
          <p:nvPr/>
        </p:nvSpPr>
        <p:spPr>
          <a:xfrm>
            <a:off x="9459468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08" name="Dot 208"/>
          <p:cNvSpPr/>
          <p:nvPr/>
        </p:nvSpPr>
        <p:spPr>
          <a:xfrm>
            <a:off x="9715500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09" name="Dot 209"/>
          <p:cNvSpPr/>
          <p:nvPr/>
        </p:nvSpPr>
        <p:spPr>
          <a:xfrm>
            <a:off x="9971532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0" name="Dot 210"/>
          <p:cNvSpPr/>
          <p:nvPr/>
        </p:nvSpPr>
        <p:spPr>
          <a:xfrm>
            <a:off x="10227564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1" name="Dot 211"/>
          <p:cNvSpPr/>
          <p:nvPr/>
        </p:nvSpPr>
        <p:spPr>
          <a:xfrm>
            <a:off x="10483596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2" name="Dot 212"/>
          <p:cNvSpPr/>
          <p:nvPr/>
        </p:nvSpPr>
        <p:spPr>
          <a:xfrm>
            <a:off x="10739628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3" name="Dot 213"/>
          <p:cNvSpPr/>
          <p:nvPr/>
        </p:nvSpPr>
        <p:spPr>
          <a:xfrm>
            <a:off x="10995660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7" name="Tape 217"/>
          <p:cNvSpPr/>
          <p:nvPr/>
        </p:nvSpPr>
        <p:spPr>
          <a:xfrm rot="-240000">
            <a:off x="1165860" y="1046988"/>
            <a:ext cx="868680" cy="246888"/>
          </a:xfrm>
          <a:prstGeom prst="rect">
            <a:avLst/>
          </a:prstGeom>
          <a:solidFill>
            <a:srgbClr val="CB6648">
              <a:alpha val="72000"/>
            </a:srgbClr>
          </a:solidFill>
          <a:ln>
            <a:noFill/>
          </a:ln>
        </p:spPr>
      </p:sp>
      <p:sp>
        <p:nvSpPr>
          <p:cNvPr id="218" name="Tape 218"/>
          <p:cNvSpPr/>
          <p:nvPr/>
        </p:nvSpPr>
        <p:spPr>
          <a:xfrm rot="180000">
            <a:off x="10447020" y="1202436"/>
            <a:ext cx="868680" cy="246888"/>
          </a:xfrm>
          <a:prstGeom prst="rect">
            <a:avLst/>
          </a:prstGeom>
          <a:solidFill>
            <a:srgbClr val="4B6E94">
              <a:alpha val="72000"/>
            </a:srgbClr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468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2–3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02C"/>
                </a:solidFill>
                <a:latin typeface="Bookman Old Style"/>
                <a:ea typeface="Bookman Old Style"/>
                <a:cs typeface="Bookman Old Style"/>
              </a:rPr>
              <a:t>Steps 2–3 — Ansible Configuration &amp; Docker Containerization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486400" cy="5120640"/>
          </a:xfrm>
          <a:prstGeom prst="rect">
            <a:avLst/>
          </a:prstGeom>
          <a:solidFill>
            <a:srgbClr val="FBEFE7"/>
          </a:solidFill>
          <a:ln w="9525">
            <a:solidFill>
              <a:srgbClr val="EBCD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1234440"/>
            <a:ext cx="5788152" cy="5120640"/>
          </a:xfrm>
          <a:prstGeom prst="rect">
            <a:avLst/>
          </a:prstGeom>
          <a:solidFill>
            <a:srgbClr val="E3EBF2"/>
          </a:solidFill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37160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B6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· CONFIGURATION MANAGEMENT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1168" indent="-201168">
              <a:spcAft>
                <a:spcPts val="200"/>
              </a:spcAft>
              <a:buClr>
                <a:srgbClr val="CB6648"/>
              </a:buClr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inventory identifies the target host.</a:t>
            </a:r>
            <a:endParaRPr lang="en-US" sz="1300" dirty="0"/>
          </a:p>
          <a:p>
            <a:pPr marL="201168" indent="-201168">
              <a:spcAft>
                <a:spcPts val="200"/>
              </a:spcAft>
              <a:buClr>
                <a:srgbClr val="CB6648"/>
              </a:buClr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installs the required Flask dependency.</a:t>
            </a:r>
            <a:endParaRPr lang="en-US" sz="1300" dirty="0"/>
          </a:p>
          <a:p>
            <a:pPr marL="201168" indent="-201168">
              <a:spcAft>
                <a:spcPts val="200"/>
              </a:spcAft>
              <a:buClr>
                <a:srgbClr val="CB6648"/>
              </a:buClr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file is created.</a:t>
            </a:r>
            <a:endParaRPr lang="en-US" sz="1300" dirty="0"/>
          </a:p>
          <a:p>
            <a:pPr marL="201168" indent="-201168">
              <a:spcAft>
                <a:spcPts val="200"/>
              </a:spcAft>
              <a:buClr>
                <a:srgbClr val="CB6648"/>
              </a:buClr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marker directory is created.</a:t>
            </a:r>
            <a:endParaRPr lang="en-US" sz="1300" dirty="0"/>
          </a:p>
          <a:p>
            <a:pPr marL="201168" indent="-201168">
              <a:spcAft>
                <a:spcPts val="200"/>
              </a:spcAft>
              <a:buClr>
                <a:srgbClr val="CB6648"/>
              </a:buClr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completed successfully.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120640" cy="411480"/>
          </a:xfrm>
          <a:prstGeom prst="round2DiagRect">
            <a:avLst>
              <a:gd name="adj1" fmla="val 30000"/>
              <a:gd name="adj2" fmla="val 0"/>
            </a:avLst>
          </a:prstGeom>
          <a:solidFill>
            <a:srgbClr val="0E3F3B"/>
          </a:solidFill>
          <a:ln>
            <a:noFill/>
          </a:ln>
        </p:spPr>
      </p:sp>
      <p:sp>
        <p:nvSpPr>
          <p:cNvPr id="9" name="Text 7"/>
          <p:cNvSpPr txBox="1"/>
          <p:nvPr/>
        </p:nvSpPr>
        <p:spPr>
          <a:xfrm>
            <a:off x="548640" y="3337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RECAP:  ok=4  |  changed=3  |  failed=0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2103120" cy="1087850"/>
          </a:xfrm>
          <a:prstGeom prst="rect">
            <a:avLst/>
          </a:prstGeom>
          <a:solidFill>
            <a:schemeClr val="bg1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11" name="Image 0" descr="inven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931920"/>
            <a:ext cx="2011680" cy="99641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501977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[local] localhost, ansible_connection=local.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34640" y="3886200"/>
            <a:ext cx="2880360" cy="1734228"/>
          </a:xfrm>
          <a:prstGeom prst="rect">
            <a:avLst/>
          </a:prstGeom>
          <a:solidFill>
            <a:schemeClr val="bg1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14" name="Image 1" descr="play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3931920"/>
            <a:ext cx="2788920" cy="16427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34640" y="56661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run: all 4 tasks OK, 0 failed.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455664" y="137160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B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CONTAINERIZATION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217920" y="1737360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1168" indent="-201168">
              <a:spcAft>
                <a:spcPts val="200"/>
              </a:spcAft>
              <a:buClr>
                <a:srgbClr val="4B6E94"/>
              </a:buClr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application is packaged into a Docker image.</a:t>
            </a:r>
            <a:endParaRPr lang="en-US" sz="1300" dirty="0"/>
          </a:p>
          <a:p>
            <a:pPr marL="201168" indent="-201168">
              <a:spcAft>
                <a:spcPts val="200"/>
              </a:spcAft>
              <a:buClr>
                <a:srgbClr val="4B6E94"/>
              </a:buClr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images such as devops-ca-project:v1 and v2 were used.</a:t>
            </a:r>
            <a:endParaRPr lang="en-US" sz="1300" dirty="0"/>
          </a:p>
          <a:p>
            <a:pPr marL="201168" indent="-201168">
              <a:spcAft>
                <a:spcPts val="200"/>
              </a:spcAft>
              <a:buClr>
                <a:srgbClr val="4B6E94"/>
              </a:buClr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support controlled Kubernetes updates and rollback.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217920" y="2697480"/>
            <a:ext cx="5166360" cy="1403919"/>
          </a:xfrm>
          <a:prstGeom prst="rect">
            <a:avLst/>
          </a:prstGeom>
          <a:solidFill>
            <a:schemeClr val="bg1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19" name="Image 2" descr="docker bui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43200"/>
            <a:ext cx="5074920" cy="131247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17920" y="4147119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devops-ca-project:v1 . — build finished (11/11) from python:3.12-slim.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17920" y="4558599"/>
            <a:ext cx="5166360" cy="1403919"/>
          </a:xfrm>
          <a:prstGeom prst="rect">
            <a:avLst/>
          </a:prstGeom>
          <a:solidFill>
            <a:schemeClr val="bg1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22" name="Image 3" descr="docker imag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604319"/>
            <a:ext cx="5074920" cy="131247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17920" y="6008239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 lists devops-ca-project:v1.</a:t>
            </a:r>
            <a:endParaRPr lang="en-US" sz="1100" dirty="0"/>
          </a:p>
        </p:txBody>
      </p:sp>
      <p:sp>
        <p:nvSpPr>
          <p:cNvPr id="20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1" lang="en-US" sz="1100">
                <a:solidFill>
                  <a:srgbClr val="CB6648"/>
                </a:solidFill>
                <a:latin typeface="Bookman Old Style"/>
              </a:rPr>
              <a:t>4</a:t>
            </a:fld>
            <a:endParaRPr lang="en-US"/>
          </a:p>
        </p:txBody>
      </p:sp>
      <p:sp>
        <p:nvSpPr>
          <p:cNvPr id="201" name="Dot 201"/>
          <p:cNvSpPr/>
          <p:nvPr/>
        </p:nvSpPr>
        <p:spPr>
          <a:xfrm>
            <a:off x="457200" y="265176"/>
            <a:ext cx="118872" cy="118872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3" name="Track 203"/>
          <p:cNvSpPr/>
          <p:nvPr/>
        </p:nvSpPr>
        <p:spPr>
          <a:xfrm>
            <a:off x="8732520" y="6624828"/>
            <a:ext cx="2304288" cy="0"/>
          </a:xfrm>
          <a:prstGeom prst="line">
            <a:avLst/>
          </a:prstGeom>
          <a:noFill/>
          <a:ln w="12700">
            <a:solidFill>
              <a:srgbClr val="D9CFBB"/>
            </a:solidFill>
            <a:prstDash val="solid"/>
          </a:ln>
        </p:spPr>
      </p:sp>
      <p:sp>
        <p:nvSpPr>
          <p:cNvPr id="204" name="Dot 204"/>
          <p:cNvSpPr/>
          <p:nvPr/>
        </p:nvSpPr>
        <p:spPr>
          <a:xfrm>
            <a:off x="8691372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5" name="Dot 205"/>
          <p:cNvSpPr/>
          <p:nvPr/>
        </p:nvSpPr>
        <p:spPr>
          <a:xfrm>
            <a:off x="8947404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6" name="Dot 206"/>
          <p:cNvSpPr/>
          <p:nvPr/>
        </p:nvSpPr>
        <p:spPr>
          <a:xfrm>
            <a:off x="9203436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7" name="Dot 207"/>
          <p:cNvSpPr/>
          <p:nvPr/>
        </p:nvSpPr>
        <p:spPr>
          <a:xfrm>
            <a:off x="9422892" y="6547104"/>
            <a:ext cx="155448" cy="155448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8" name="Dot 208"/>
          <p:cNvSpPr/>
          <p:nvPr/>
        </p:nvSpPr>
        <p:spPr>
          <a:xfrm>
            <a:off x="9715500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09" name="Dot 209"/>
          <p:cNvSpPr/>
          <p:nvPr/>
        </p:nvSpPr>
        <p:spPr>
          <a:xfrm>
            <a:off x="9971532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0" name="Dot 210"/>
          <p:cNvSpPr/>
          <p:nvPr/>
        </p:nvSpPr>
        <p:spPr>
          <a:xfrm>
            <a:off x="10227564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1" name="Dot 211"/>
          <p:cNvSpPr/>
          <p:nvPr/>
        </p:nvSpPr>
        <p:spPr>
          <a:xfrm>
            <a:off x="10483596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2" name="Dot 212"/>
          <p:cNvSpPr/>
          <p:nvPr/>
        </p:nvSpPr>
        <p:spPr>
          <a:xfrm>
            <a:off x="10739628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3" name="Dot 213"/>
          <p:cNvSpPr/>
          <p:nvPr/>
        </p:nvSpPr>
        <p:spPr>
          <a:xfrm>
            <a:off x="10995660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4" name="Dot 214"/>
          <p:cNvSpPr/>
          <p:nvPr/>
        </p:nvSpPr>
        <p:spPr>
          <a:xfrm>
            <a:off x="548640" y="1417320"/>
            <a:ext cx="128016" cy="128016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15" name="Dot 215"/>
          <p:cNvSpPr/>
          <p:nvPr/>
        </p:nvSpPr>
        <p:spPr>
          <a:xfrm>
            <a:off x="6217920" y="1417320"/>
            <a:ext cx="128016" cy="128016"/>
          </a:xfrm>
          <a:prstGeom prst="ellipse">
            <a:avLst/>
          </a:prstGeom>
          <a:solidFill>
            <a:srgbClr val="4B6E94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468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02C"/>
                </a:solidFill>
                <a:latin typeface="Bookman Old Style"/>
                <a:ea typeface="Bookman Old Style"/>
                <a:cs typeface="Bookman Old Style"/>
              </a:rPr>
              <a:t>Step 3 — Kubernetes Deployment &amp; Service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4937760"/>
          </a:xfrm>
          <a:prstGeom prst="rect">
            <a:avLst/>
          </a:prstGeom>
          <a:solidFill>
            <a:srgbClr val="DCE9E3"/>
          </a:solidFill>
          <a:ln>
            <a:noFill/>
          </a:ln>
        </p:spPr>
      </p:sp>
      <p:sp>
        <p:nvSpPr>
          <p:cNvPr id="5" name="Text 3"/>
          <p:cNvSpPr txBox="1"/>
          <p:nvPr/>
        </p:nvSpPr>
        <p:spPr>
          <a:xfrm>
            <a:off x="969264" y="160020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3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1168" indent="-201168">
              <a:spcAft>
                <a:spcPts val="400"/>
              </a:spcAft>
              <a:buClr>
                <a:srgbClr val="CB6648"/>
              </a:buClr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Flask application.</a:t>
            </a:r>
            <a:endParaRPr lang="en-US" sz="1400" dirty="0"/>
          </a:p>
          <a:p>
            <a:pPr marL="201168" indent="-201168">
              <a:spcAft>
                <a:spcPts val="400"/>
              </a:spcAft>
              <a:buClr>
                <a:srgbClr val="CB6648"/>
              </a:buClr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replicas are configured.</a:t>
            </a:r>
            <a:endParaRPr lang="en-US" sz="1400" dirty="0"/>
          </a:p>
          <a:p>
            <a:pPr marL="201168" indent="-201168">
              <a:spcAft>
                <a:spcPts val="400"/>
              </a:spcAft>
              <a:buClr>
                <a:srgbClr val="CB6648"/>
              </a:buClr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pods provide availability and controlled updates.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342900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3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1168" indent="-201168">
              <a:spcAft>
                <a:spcPts val="400"/>
              </a:spcAft>
              <a:buClr>
                <a:srgbClr val="CB6648"/>
              </a:buClr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NodePort, NodePort 30001.</a:t>
            </a:r>
            <a:endParaRPr lang="en-US" sz="1400" dirty="0"/>
          </a:p>
          <a:p>
            <a:pPr marL="201168" indent="-201168">
              <a:spcAft>
                <a:spcPts val="400"/>
              </a:spcAft>
              <a:buClr>
                <a:srgbClr val="CB6648"/>
              </a:buClr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container port 5001.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493776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3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3035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1168" indent="-201168">
              <a:spcAft>
                <a:spcPts val="400"/>
              </a:spcAft>
              <a:buClr>
                <a:srgbClr val="CB6648"/>
              </a:buClr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were created successfully.</a:t>
            </a:r>
            <a:endParaRPr lang="en-US" sz="1400" dirty="0"/>
          </a:p>
          <a:p>
            <a:pPr marL="201168" indent="-201168">
              <a:spcAft>
                <a:spcPts val="400"/>
              </a:spcAft>
              <a:buClr>
                <a:srgbClr val="CB6648"/>
              </a:buClr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reached Running, 1/1 Ready.</a:t>
            </a:r>
            <a:endParaRPr lang="en-US" sz="1400" dirty="0"/>
          </a:p>
        </p:txBody>
      </p:sp>
      <p:sp>
        <p:nvSpPr>
          <p:cNvPr id="219" name="Offset 219"/>
          <p:cNvSpPr/>
          <p:nvPr/>
        </p:nvSpPr>
        <p:spPr>
          <a:xfrm>
            <a:off x="4791456" y="1408176"/>
            <a:ext cx="7040880" cy="4344977"/>
          </a:xfrm>
          <a:prstGeom prst="rect">
            <a:avLst/>
          </a:prstGeom>
          <a:solidFill>
            <a:srgbClr val="C6D6E6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4709160" y="1325880"/>
            <a:ext cx="7040880" cy="4344977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12" name="Image 0" descr="kubectl evid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71600"/>
            <a:ext cx="6949440" cy="425353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709160" y="587044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service.yaml (NodePort: port 5001 → targetPort 5001, nodePort 30001), then kubectl apply, kubectl get pods (three devops-app pods Running, 1/1) and kubectl get services (devops-app-service 5001:30001/TCP).</a:t>
            </a:r>
            <a:endParaRPr lang="en-US" sz="1100" dirty="0"/>
          </a:p>
        </p:txBody>
      </p:sp>
      <p:sp>
        <p:nvSpPr>
          <p:cNvPr id="20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1" lang="en-US" sz="1100">
                <a:solidFill>
                  <a:srgbClr val="CB6648"/>
                </a:solidFill>
                <a:latin typeface="Bookman Old Style"/>
              </a:rPr>
              <a:t>5</a:t>
            </a:fld>
            <a:endParaRPr lang="en-US"/>
          </a:p>
        </p:txBody>
      </p:sp>
      <p:sp>
        <p:nvSpPr>
          <p:cNvPr id="201" name="Dot 201"/>
          <p:cNvSpPr/>
          <p:nvPr/>
        </p:nvSpPr>
        <p:spPr>
          <a:xfrm>
            <a:off x="457200" y="265176"/>
            <a:ext cx="118872" cy="118872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3" name="Track 203"/>
          <p:cNvSpPr/>
          <p:nvPr/>
        </p:nvSpPr>
        <p:spPr>
          <a:xfrm>
            <a:off x="8732520" y="6624828"/>
            <a:ext cx="2304288" cy="0"/>
          </a:xfrm>
          <a:prstGeom prst="line">
            <a:avLst/>
          </a:prstGeom>
          <a:noFill/>
          <a:ln w="12700">
            <a:solidFill>
              <a:srgbClr val="D9CFBB"/>
            </a:solidFill>
            <a:prstDash val="solid"/>
          </a:ln>
        </p:spPr>
      </p:sp>
      <p:sp>
        <p:nvSpPr>
          <p:cNvPr id="204" name="Dot 204"/>
          <p:cNvSpPr/>
          <p:nvPr/>
        </p:nvSpPr>
        <p:spPr>
          <a:xfrm>
            <a:off x="8691372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5" name="Dot 205"/>
          <p:cNvSpPr/>
          <p:nvPr/>
        </p:nvSpPr>
        <p:spPr>
          <a:xfrm>
            <a:off x="8947404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6" name="Dot 206"/>
          <p:cNvSpPr/>
          <p:nvPr/>
        </p:nvSpPr>
        <p:spPr>
          <a:xfrm>
            <a:off x="9203436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7" name="Dot 207"/>
          <p:cNvSpPr/>
          <p:nvPr/>
        </p:nvSpPr>
        <p:spPr>
          <a:xfrm>
            <a:off x="9459468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8" name="Dot 208"/>
          <p:cNvSpPr/>
          <p:nvPr/>
        </p:nvSpPr>
        <p:spPr>
          <a:xfrm>
            <a:off x="9678924" y="6547104"/>
            <a:ext cx="155448" cy="155448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9" name="Dot 209"/>
          <p:cNvSpPr/>
          <p:nvPr/>
        </p:nvSpPr>
        <p:spPr>
          <a:xfrm>
            <a:off x="9971532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0" name="Dot 210"/>
          <p:cNvSpPr/>
          <p:nvPr/>
        </p:nvSpPr>
        <p:spPr>
          <a:xfrm>
            <a:off x="10227564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1" name="Dot 211"/>
          <p:cNvSpPr/>
          <p:nvPr/>
        </p:nvSpPr>
        <p:spPr>
          <a:xfrm>
            <a:off x="10483596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2" name="Dot 212"/>
          <p:cNvSpPr/>
          <p:nvPr/>
        </p:nvSpPr>
        <p:spPr>
          <a:xfrm>
            <a:off x="10739628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3" name="Dot 213"/>
          <p:cNvSpPr/>
          <p:nvPr/>
        </p:nvSpPr>
        <p:spPr>
          <a:xfrm>
            <a:off x="10995660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4" name="Dot 214"/>
          <p:cNvSpPr/>
          <p:nvPr/>
        </p:nvSpPr>
        <p:spPr>
          <a:xfrm>
            <a:off x="731520" y="1645920"/>
            <a:ext cx="128016" cy="12801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15" name="Dot 215"/>
          <p:cNvSpPr/>
          <p:nvPr/>
        </p:nvSpPr>
        <p:spPr>
          <a:xfrm>
            <a:off x="731520" y="3474720"/>
            <a:ext cx="128016" cy="128016"/>
          </a:xfrm>
          <a:prstGeom prst="ellipse">
            <a:avLst/>
          </a:prstGeom>
          <a:solidFill>
            <a:srgbClr val="4B6E94"/>
          </a:solidFill>
          <a:ln>
            <a:noFill/>
          </a:ln>
        </p:spPr>
      </p:sp>
      <p:sp>
        <p:nvSpPr>
          <p:cNvPr id="216" name="Dot 216"/>
          <p:cNvSpPr/>
          <p:nvPr/>
        </p:nvSpPr>
        <p:spPr>
          <a:xfrm>
            <a:off x="731520" y="4983480"/>
            <a:ext cx="128016" cy="128016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17" name="Rule 217"/>
          <p:cNvSpPr/>
          <p:nvPr/>
        </p:nvSpPr>
        <p:spPr>
          <a:xfrm>
            <a:off x="731520" y="3246120"/>
            <a:ext cx="3429000" cy="0"/>
          </a:xfrm>
          <a:prstGeom prst="line">
            <a:avLst/>
          </a:prstGeom>
          <a:noFill/>
          <a:ln w="19050">
            <a:solidFill>
              <a:srgbClr val="FFFCF6"/>
            </a:solidFill>
            <a:prstDash val="solid"/>
          </a:ln>
        </p:spPr>
      </p:sp>
      <p:sp>
        <p:nvSpPr>
          <p:cNvPr id="218" name="Rule 218"/>
          <p:cNvSpPr/>
          <p:nvPr/>
        </p:nvSpPr>
        <p:spPr>
          <a:xfrm>
            <a:off x="731520" y="4754880"/>
            <a:ext cx="3429000" cy="0"/>
          </a:xfrm>
          <a:prstGeom prst="line">
            <a:avLst/>
          </a:prstGeom>
          <a:noFill/>
          <a:ln w="19050">
            <a:solidFill>
              <a:srgbClr val="FFFCF6"/>
            </a:solidFill>
            <a:prstDash val="solid"/>
          </a:ln>
        </p:spPr>
      </p:sp>
      <p:sp>
        <p:nvSpPr>
          <p:cNvPr id="220" name="Tape 220"/>
          <p:cNvSpPr/>
          <p:nvPr/>
        </p:nvSpPr>
        <p:spPr>
          <a:xfrm rot="180000">
            <a:off x="10629900" y="1156716"/>
            <a:ext cx="868680" cy="246888"/>
          </a:xfrm>
          <a:prstGeom prst="rect">
            <a:avLst/>
          </a:prstGeom>
          <a:solidFill>
            <a:srgbClr val="CB6648">
              <a:alpha val="72000"/>
            </a:srgbClr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468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02C"/>
                </a:solidFill>
                <a:latin typeface="Bookman Old Style"/>
                <a:ea typeface="Bookman Old Style"/>
                <a:cs typeface="Bookman Old Style"/>
              </a:rPr>
              <a:t>Step 3 — Rolling Update &amp; Rollback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417320" cy="640080"/>
          </a:xfrm>
          <a:prstGeom prst="round2DiagRect">
            <a:avLst>
              <a:gd name="adj1" fmla="val 24000"/>
              <a:gd name="adj2" fmla="val 0"/>
            </a:avLst>
          </a:prstGeom>
          <a:solidFill>
            <a:srgbClr val="4B6E94"/>
          </a:solidFill>
          <a:ln>
            <a:noFill/>
          </a:ln>
        </p:spPr>
      </p:sp>
      <p:sp>
        <p:nvSpPr>
          <p:cNvPr id="5" name="Text 3"/>
          <p:cNvSpPr txBox="1"/>
          <p:nvPr/>
        </p:nvSpPr>
        <p:spPr>
          <a:xfrm>
            <a:off x="530352" y="128016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Running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92808" y="1600200"/>
            <a:ext cx="17373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84832" y="1280160"/>
            <a:ext cx="1417320" cy="640080"/>
          </a:xfrm>
          <a:prstGeom prst="round2DiagRect">
            <a:avLst>
              <a:gd name="adj1" fmla="val 24000"/>
              <a:gd name="adj2" fmla="val 0"/>
            </a:avLst>
          </a:prstGeom>
          <a:solidFill>
            <a:srgbClr val="4B6E94"/>
          </a:solidFill>
          <a:ln>
            <a:noFill/>
          </a:ln>
        </p:spPr>
      </p:sp>
      <p:sp>
        <p:nvSpPr>
          <p:cNvPr id="8" name="Text 6"/>
          <p:cNvSpPr txBox="1"/>
          <p:nvPr/>
        </p:nvSpPr>
        <p:spPr>
          <a:xfrm>
            <a:off x="2157984" y="128016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image to v2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1600200"/>
            <a:ext cx="17373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12464" y="1280160"/>
            <a:ext cx="1417320" cy="640080"/>
          </a:xfrm>
          <a:prstGeom prst="round2DiagRect">
            <a:avLst>
              <a:gd name="adj1" fmla="val 24000"/>
              <a:gd name="adj2" fmla="val 0"/>
            </a:avLst>
          </a:prstGeom>
          <a:solidFill>
            <a:srgbClr val="4B6E94"/>
          </a:solidFill>
          <a:ln>
            <a:noFill/>
          </a:ln>
        </p:spPr>
      </p:sp>
      <p:sp>
        <p:nvSpPr>
          <p:cNvPr id="11" name="Text 9"/>
          <p:cNvSpPr txBox="1"/>
          <p:nvPr/>
        </p:nvSpPr>
        <p:spPr>
          <a:xfrm>
            <a:off x="3785616" y="128016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v2 pods start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48072" y="1600200"/>
            <a:ext cx="17373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40096" y="1280160"/>
            <a:ext cx="1417320" cy="640080"/>
          </a:xfrm>
          <a:prstGeom prst="round2DiagRect">
            <a:avLst>
              <a:gd name="adj1" fmla="val 24000"/>
              <a:gd name="adj2" fmla="val 0"/>
            </a:avLst>
          </a:prstGeom>
          <a:solidFill>
            <a:srgbClr val="4B6E94"/>
          </a:solidFill>
          <a:ln>
            <a:noFill/>
          </a:ln>
        </p:spPr>
      </p:sp>
      <p:sp>
        <p:nvSpPr>
          <p:cNvPr id="14" name="Text 12"/>
          <p:cNvSpPr txBox="1"/>
          <p:nvPr/>
        </p:nvSpPr>
        <p:spPr>
          <a:xfrm>
            <a:off x="5413248" y="128016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v1 pods terminate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75704" y="1600200"/>
            <a:ext cx="17373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67728" y="1280160"/>
            <a:ext cx="1417320" cy="640080"/>
          </a:xfrm>
          <a:prstGeom prst="round2DiagRect">
            <a:avLst>
              <a:gd name="adj1" fmla="val 24000"/>
              <a:gd name="adj2" fmla="val 0"/>
            </a:avLst>
          </a:prstGeom>
          <a:solidFill>
            <a:srgbClr val="1F6F68"/>
          </a:solidFill>
          <a:ln>
            <a:noFill/>
          </a:ln>
        </p:spPr>
      </p:sp>
      <p:sp>
        <p:nvSpPr>
          <p:cNvPr id="17" name="Text 15"/>
          <p:cNvSpPr txBox="1"/>
          <p:nvPr/>
        </p:nvSpPr>
        <p:spPr>
          <a:xfrm>
            <a:off x="7040880" y="128016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successful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03336" y="1600200"/>
            <a:ext cx="17373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95360" y="1280160"/>
            <a:ext cx="1417320" cy="640080"/>
          </a:xfrm>
          <a:prstGeom prst="round2DiagRect">
            <a:avLst>
              <a:gd name="adj1" fmla="val 24000"/>
              <a:gd name="adj2" fmla="val 0"/>
            </a:avLst>
          </a:prstGeom>
          <a:solidFill>
            <a:srgbClr val="CB6648"/>
          </a:solidFill>
          <a:ln>
            <a:noFill/>
          </a:ln>
        </p:spPr>
      </p:sp>
      <p:sp>
        <p:nvSpPr>
          <p:cNvPr id="20" name="Text 18"/>
          <p:cNvSpPr txBox="1"/>
          <p:nvPr/>
        </p:nvSpPr>
        <p:spPr>
          <a:xfrm>
            <a:off x="8668512" y="128016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requested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030968" y="1600200"/>
            <a:ext cx="17373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222992" y="1280160"/>
            <a:ext cx="1417320" cy="640080"/>
          </a:xfrm>
          <a:prstGeom prst="round2DiagRect">
            <a:avLst>
              <a:gd name="adj1" fmla="val 24000"/>
              <a:gd name="adj2" fmla="val 0"/>
            </a:avLst>
          </a:prstGeom>
          <a:solidFill>
            <a:srgbClr val="CB6648"/>
          </a:solidFill>
          <a:ln>
            <a:noFill/>
          </a:ln>
        </p:spPr>
      </p:sp>
      <p:sp>
        <p:nvSpPr>
          <p:cNvPr id="23" name="Text 21"/>
          <p:cNvSpPr txBox="1"/>
          <p:nvPr/>
        </p:nvSpPr>
        <p:spPr>
          <a:xfrm>
            <a:off x="10296144" y="128016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restored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B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  ·  v1 → v2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5486400" cy="1463434"/>
          </a:xfrm>
          <a:prstGeom prst="rect">
            <a:avLst/>
          </a:prstGeom>
          <a:solidFill>
            <a:schemeClr val="bg1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26" name="Image 0" descr="rolling upd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77440"/>
            <a:ext cx="5394960" cy="137199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457200" y="384087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set image → devops-ca-project:v2; rollout status: successfully rolled out; new pods Running, old pods Terminating.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B6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 ·  v2 → v1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" y="4526280"/>
            <a:ext cx="5486400" cy="1463434"/>
          </a:xfrm>
          <a:prstGeom prst="rect">
            <a:avLst/>
          </a:prstGeom>
          <a:solidFill>
            <a:schemeClr val="bg1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30" name="Image 1" descr="rollb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0"/>
            <a:ext cx="5394960" cy="137199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457200" y="603543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rollout undo; deployment image check returns devops-ca-project:v1.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6537960" y="2057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B6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LIST AFTER ROLLBACK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537960" y="2331720"/>
            <a:ext cx="5212080" cy="1360044"/>
          </a:xfrm>
          <a:prstGeom prst="rect">
            <a:avLst/>
          </a:prstGeom>
          <a:solidFill>
            <a:schemeClr val="bg1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34" name="Image 2" descr="pods after rollba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377440"/>
            <a:ext cx="5120640" cy="1268604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537960" y="378320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clean final state: the three earlier v2 pods are still Terminating while three restored pods are Running (1/1, 0 restarts).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492240" y="4526280"/>
            <a:ext cx="5239512" cy="1600200"/>
          </a:xfrm>
          <a:prstGeom prst="rect">
            <a:avLst/>
          </a:prstGeom>
          <a:solidFill>
            <a:srgbClr val="0E3F3B"/>
          </a:solidFill>
          <a:ln>
            <a:noFill/>
          </a:ln>
        </p:spPr>
      </p:sp>
      <p:sp>
        <p:nvSpPr>
          <p:cNvPr id="37" name="Text 32"/>
          <p:cNvSpPr txBox="1"/>
          <p:nvPr/>
        </p:nvSpPr>
        <p:spPr>
          <a:xfrm>
            <a:off x="6675120" y="4681728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update </a:t>
            </a:r>
            <a:r>
              <a:rPr lang="en-US" sz="14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a new application version gradually while Kubernetes replaces the old pods.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rollout undo </a:t>
            </a:r>
            <a:r>
              <a:rPr lang="en-US" sz="14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used to restore the previous stable version, demonstrating deployment recovery.</a:t>
            </a:r>
            <a:endParaRPr lang="en-US" sz="1400" dirty="0"/>
          </a:p>
        </p:txBody>
      </p:sp>
      <p:sp>
        <p:nvSpPr>
          <p:cNvPr id="20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1" lang="en-US" sz="1100">
                <a:solidFill>
                  <a:srgbClr val="CB6648"/>
                </a:solidFill>
                <a:latin typeface="Bookman Old Style"/>
              </a:rPr>
              <a:t>6</a:t>
            </a:fld>
            <a:endParaRPr lang="en-US"/>
          </a:p>
        </p:txBody>
      </p:sp>
      <p:sp>
        <p:nvSpPr>
          <p:cNvPr id="201" name="Dot 201"/>
          <p:cNvSpPr/>
          <p:nvPr/>
        </p:nvSpPr>
        <p:spPr>
          <a:xfrm>
            <a:off x="457200" y="265176"/>
            <a:ext cx="118872" cy="118872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3" name="Track 203"/>
          <p:cNvSpPr/>
          <p:nvPr/>
        </p:nvSpPr>
        <p:spPr>
          <a:xfrm>
            <a:off x="8732520" y="6624828"/>
            <a:ext cx="2304288" cy="0"/>
          </a:xfrm>
          <a:prstGeom prst="line">
            <a:avLst/>
          </a:prstGeom>
          <a:noFill/>
          <a:ln w="12700">
            <a:solidFill>
              <a:srgbClr val="D9CFBB"/>
            </a:solidFill>
            <a:prstDash val="solid"/>
          </a:ln>
        </p:spPr>
      </p:sp>
      <p:sp>
        <p:nvSpPr>
          <p:cNvPr id="204" name="Dot 204"/>
          <p:cNvSpPr/>
          <p:nvPr/>
        </p:nvSpPr>
        <p:spPr>
          <a:xfrm>
            <a:off x="8691372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5" name="Dot 205"/>
          <p:cNvSpPr/>
          <p:nvPr/>
        </p:nvSpPr>
        <p:spPr>
          <a:xfrm>
            <a:off x="8947404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6" name="Dot 206"/>
          <p:cNvSpPr/>
          <p:nvPr/>
        </p:nvSpPr>
        <p:spPr>
          <a:xfrm>
            <a:off x="9203436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7" name="Dot 207"/>
          <p:cNvSpPr/>
          <p:nvPr/>
        </p:nvSpPr>
        <p:spPr>
          <a:xfrm>
            <a:off x="9459468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8" name="Dot 208"/>
          <p:cNvSpPr/>
          <p:nvPr/>
        </p:nvSpPr>
        <p:spPr>
          <a:xfrm>
            <a:off x="9715500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9" name="Dot 209"/>
          <p:cNvSpPr/>
          <p:nvPr/>
        </p:nvSpPr>
        <p:spPr>
          <a:xfrm>
            <a:off x="9934956" y="6547104"/>
            <a:ext cx="155448" cy="155448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10" name="Dot 210"/>
          <p:cNvSpPr/>
          <p:nvPr/>
        </p:nvSpPr>
        <p:spPr>
          <a:xfrm>
            <a:off x="10227564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1" name="Dot 211"/>
          <p:cNvSpPr/>
          <p:nvPr/>
        </p:nvSpPr>
        <p:spPr>
          <a:xfrm>
            <a:off x="10483596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2" name="Dot 212"/>
          <p:cNvSpPr/>
          <p:nvPr/>
        </p:nvSpPr>
        <p:spPr>
          <a:xfrm>
            <a:off x="10739628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3" name="Dot 213"/>
          <p:cNvSpPr/>
          <p:nvPr/>
        </p:nvSpPr>
        <p:spPr>
          <a:xfrm>
            <a:off x="10995660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468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02C"/>
                </a:solidFill>
                <a:latin typeface="Bookman Old Style"/>
                <a:ea typeface="Bookman Old Style"/>
                <a:cs typeface="Bookman Old Style"/>
              </a:rPr>
              <a:t>Step 4 — Prometheus Monitoring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103120" cy="1005840"/>
          </a:xfrm>
          <a:prstGeom prst="round2DiagRect">
            <a:avLst>
              <a:gd name="adj1" fmla="val 20000"/>
              <a:gd name="adj2" fmla="val 0"/>
            </a:avLst>
          </a:prstGeom>
          <a:solidFill>
            <a:srgbClr val="4B6E94"/>
          </a:solidFill>
          <a:ln>
            <a:noFill/>
          </a:ln>
        </p:spPr>
      </p:sp>
      <p:sp>
        <p:nvSpPr>
          <p:cNvPr id="5" name="Text 3"/>
          <p:cNvSpPr txBox="1"/>
          <p:nvPr/>
        </p:nvSpPr>
        <p:spPr>
          <a:xfrm>
            <a:off x="548640" y="1353312"/>
            <a:ext cx="1920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Application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920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/metrics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87752" y="1783080"/>
            <a:ext cx="40233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17520" y="1280160"/>
            <a:ext cx="2103120" cy="1005840"/>
          </a:xfrm>
          <a:prstGeom prst="round2DiagRect">
            <a:avLst>
              <a:gd name="adj1" fmla="val 20000"/>
              <a:gd name="adj2" fmla="val 0"/>
            </a:avLst>
          </a:prstGeom>
          <a:solidFill>
            <a:srgbClr val="CB6648"/>
          </a:solidFill>
          <a:ln>
            <a:noFill/>
          </a:ln>
        </p:spPr>
      </p:sp>
      <p:sp>
        <p:nvSpPr>
          <p:cNvPr id="9" name="Text 7"/>
          <p:cNvSpPr txBox="1"/>
          <p:nvPr/>
        </p:nvSpPr>
        <p:spPr>
          <a:xfrm>
            <a:off x="3108960" y="1353312"/>
            <a:ext cx="1920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783080"/>
            <a:ext cx="1920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/metrics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48072" y="1783080"/>
            <a:ext cx="40233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77840" y="1280160"/>
            <a:ext cx="2103120" cy="1005840"/>
          </a:xfrm>
          <a:prstGeom prst="round2DiagRect">
            <a:avLst>
              <a:gd name="adj1" fmla="val 20000"/>
              <a:gd name="adj2" fmla="val 0"/>
            </a:avLst>
          </a:prstGeom>
          <a:solidFill>
            <a:srgbClr val="CB6648"/>
          </a:solidFill>
          <a:ln>
            <a:noFill/>
          </a:ln>
        </p:spPr>
      </p:sp>
      <p:sp>
        <p:nvSpPr>
          <p:cNvPr id="13" name="Text 11"/>
          <p:cNvSpPr txBox="1"/>
          <p:nvPr/>
        </p:nvSpPr>
        <p:spPr>
          <a:xfrm>
            <a:off x="5669280" y="1353312"/>
            <a:ext cx="1920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783080"/>
            <a:ext cx="1920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metrics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1280160"/>
            <a:ext cx="3547872" cy="1005840"/>
          </a:xfrm>
          <a:prstGeom prst="rect">
            <a:avLst/>
          </a:prstGeom>
          <a:solidFill>
            <a:srgbClr val="DCE9E3"/>
          </a:solidFill>
          <a:ln>
            <a:noFill/>
          </a:ln>
        </p:spPr>
      </p:sp>
      <p:sp>
        <p:nvSpPr>
          <p:cNvPr id="16" name="Text 14"/>
          <p:cNvSpPr txBox="1"/>
          <p:nvPr/>
        </p:nvSpPr>
        <p:spPr>
          <a:xfrm>
            <a:off x="8366760" y="1344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3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SIGNALS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1691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buClr>
                <a:srgbClr val="CB6648"/>
              </a:buClr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uptime</a:t>
            </a:r>
            <a:endParaRPr lang="en-US" sz="1150" dirty="0"/>
          </a:p>
          <a:p>
            <a:pPr marL="182880" indent="-182880">
              <a:buClr>
                <a:srgbClr val="CB6648"/>
              </a:buClr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latency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1691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buClr>
                <a:srgbClr val="CB6648"/>
              </a:buClr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500 error rate</a:t>
            </a:r>
            <a:endParaRPr lang="en-US" sz="1150" dirty="0"/>
          </a:p>
          <a:p>
            <a:pPr marL="182880" indent="-182880">
              <a:buClr>
                <a:srgbClr val="CB6648"/>
              </a:buClr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 health</a:t>
            </a:r>
            <a:endParaRPr lang="en-US" sz="1150" dirty="0"/>
          </a:p>
        </p:txBody>
      </p:sp>
      <p:sp>
        <p:nvSpPr>
          <p:cNvPr id="214" name="Offset 214"/>
          <p:cNvSpPr/>
          <p:nvPr/>
        </p:nvSpPr>
        <p:spPr>
          <a:xfrm>
            <a:off x="539496" y="2734056"/>
            <a:ext cx="4389120" cy="2900012"/>
          </a:xfrm>
          <a:prstGeom prst="rect">
            <a:avLst/>
          </a:prstGeom>
          <a:solidFill>
            <a:srgbClr val="C6DBD2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457200" y="2651760"/>
            <a:ext cx="4389120" cy="2900012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20" name="Image 0" descr="metr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697480"/>
            <a:ext cx="4297680" cy="280857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57200" y="56889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/metrics output (curl on 127.0.0.1:5001): Prometheus-format metrics.</a:t>
            </a:r>
            <a:endParaRPr lang="en-US" sz="1100" dirty="0"/>
          </a:p>
        </p:txBody>
      </p:sp>
      <p:sp>
        <p:nvSpPr>
          <p:cNvPr id="215" name="Offset 215"/>
          <p:cNvSpPr/>
          <p:nvPr/>
        </p:nvSpPr>
        <p:spPr>
          <a:xfrm>
            <a:off x="5248656" y="2734056"/>
            <a:ext cx="6583680" cy="1714500"/>
          </a:xfrm>
          <a:prstGeom prst="rect">
            <a:avLst/>
          </a:prstGeom>
          <a:solidFill>
            <a:srgbClr val="EFC9B8"/>
          </a:solidFill>
          <a:ln>
            <a:noFill/>
          </a:ln>
        </p:spPr>
      </p:sp>
      <p:sp>
        <p:nvSpPr>
          <p:cNvPr id="22" name="Shape 19"/>
          <p:cNvSpPr/>
          <p:nvPr/>
        </p:nvSpPr>
        <p:spPr>
          <a:xfrm>
            <a:off x="5166360" y="2651760"/>
            <a:ext cx="6583680" cy="1714500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23" name="Image 1" descr="targe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697480"/>
            <a:ext cx="6492240" cy="16230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166360" y="45034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Target health: job flask-app, endpoint 127.0.0.1:5001/metrics, State UP (1/1 up).</a:t>
            </a:r>
            <a:endParaRPr lang="en-US" sz="1100" dirty="0"/>
          </a:p>
        </p:txBody>
      </p:sp>
      <p:sp>
        <p:nvSpPr>
          <p:cNvPr id="216" name="Offset 216"/>
          <p:cNvSpPr/>
          <p:nvPr/>
        </p:nvSpPr>
        <p:spPr>
          <a:xfrm>
            <a:off x="5248656" y="4905756"/>
            <a:ext cx="6583680" cy="1016207"/>
          </a:xfrm>
          <a:prstGeom prst="rect">
            <a:avLst/>
          </a:prstGeom>
          <a:solidFill>
            <a:srgbClr val="C6D6E6"/>
          </a:solidFill>
          <a:ln>
            <a:noFill/>
          </a:ln>
        </p:spPr>
      </p:sp>
      <p:sp>
        <p:nvSpPr>
          <p:cNvPr id="25" name="Shape 21"/>
          <p:cNvSpPr/>
          <p:nvPr/>
        </p:nvSpPr>
        <p:spPr>
          <a:xfrm>
            <a:off x="5166360" y="4823460"/>
            <a:ext cx="6583680" cy="1016207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26" name="Image 2" descr="datasour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4869180"/>
            <a:ext cx="6492240" cy="92476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166360" y="5949395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data source: “Successfully queried the Prometheus API.”</a:t>
            </a:r>
            <a:endParaRPr lang="en-US" sz="1100" dirty="0"/>
          </a:p>
        </p:txBody>
      </p:sp>
      <p:sp>
        <p:nvSpPr>
          <p:cNvPr id="20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1" lang="en-US" sz="1100">
                <a:solidFill>
                  <a:srgbClr val="CB6648"/>
                </a:solidFill>
                <a:latin typeface="Bookman Old Style"/>
              </a:rPr>
              <a:t>7</a:t>
            </a:fld>
            <a:endParaRPr lang="en-US"/>
          </a:p>
        </p:txBody>
      </p:sp>
      <p:sp>
        <p:nvSpPr>
          <p:cNvPr id="201" name="Dot 201"/>
          <p:cNvSpPr/>
          <p:nvPr/>
        </p:nvSpPr>
        <p:spPr>
          <a:xfrm>
            <a:off x="457200" y="265176"/>
            <a:ext cx="118872" cy="118872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3" name="Track 203"/>
          <p:cNvSpPr/>
          <p:nvPr/>
        </p:nvSpPr>
        <p:spPr>
          <a:xfrm>
            <a:off x="8732520" y="6624828"/>
            <a:ext cx="2304288" cy="0"/>
          </a:xfrm>
          <a:prstGeom prst="line">
            <a:avLst/>
          </a:prstGeom>
          <a:noFill/>
          <a:ln w="12700">
            <a:solidFill>
              <a:srgbClr val="D9CFBB"/>
            </a:solidFill>
            <a:prstDash val="solid"/>
          </a:ln>
        </p:spPr>
      </p:sp>
      <p:sp>
        <p:nvSpPr>
          <p:cNvPr id="204" name="Dot 204"/>
          <p:cNvSpPr/>
          <p:nvPr/>
        </p:nvSpPr>
        <p:spPr>
          <a:xfrm>
            <a:off x="8691372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5" name="Dot 205"/>
          <p:cNvSpPr/>
          <p:nvPr/>
        </p:nvSpPr>
        <p:spPr>
          <a:xfrm>
            <a:off x="8947404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6" name="Dot 206"/>
          <p:cNvSpPr/>
          <p:nvPr/>
        </p:nvSpPr>
        <p:spPr>
          <a:xfrm>
            <a:off x="9203436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7" name="Dot 207"/>
          <p:cNvSpPr/>
          <p:nvPr/>
        </p:nvSpPr>
        <p:spPr>
          <a:xfrm>
            <a:off x="9459468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8" name="Dot 208"/>
          <p:cNvSpPr/>
          <p:nvPr/>
        </p:nvSpPr>
        <p:spPr>
          <a:xfrm>
            <a:off x="9715500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9" name="Dot 209"/>
          <p:cNvSpPr/>
          <p:nvPr/>
        </p:nvSpPr>
        <p:spPr>
          <a:xfrm>
            <a:off x="9971532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10" name="Dot 210"/>
          <p:cNvSpPr/>
          <p:nvPr/>
        </p:nvSpPr>
        <p:spPr>
          <a:xfrm>
            <a:off x="10190988" y="6547104"/>
            <a:ext cx="155448" cy="155448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11" name="Dot 211"/>
          <p:cNvSpPr/>
          <p:nvPr/>
        </p:nvSpPr>
        <p:spPr>
          <a:xfrm>
            <a:off x="10483596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2" name="Dot 212"/>
          <p:cNvSpPr/>
          <p:nvPr/>
        </p:nvSpPr>
        <p:spPr>
          <a:xfrm>
            <a:off x="10739628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3" name="Dot 213"/>
          <p:cNvSpPr/>
          <p:nvPr/>
        </p:nvSpPr>
        <p:spPr>
          <a:xfrm>
            <a:off x="10995660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468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02C"/>
                </a:solidFill>
                <a:latin typeface="Bookman Old Style"/>
                <a:ea typeface="Bookman Old Style"/>
                <a:cs typeface="Bookman Old Style"/>
              </a:rPr>
              <a:t>Step 4 — Grafana Application Monitoring Dashboard</a:t>
            </a:r>
            <a:endParaRPr lang="en-US" sz="2400" dirty="0"/>
          </a:p>
        </p:txBody>
      </p:sp>
      <p:sp>
        <p:nvSpPr>
          <p:cNvPr id="214" name="Offset 214"/>
          <p:cNvSpPr/>
          <p:nvPr/>
        </p:nvSpPr>
        <p:spPr>
          <a:xfrm>
            <a:off x="539496" y="1408176"/>
            <a:ext cx="7498080" cy="4141946"/>
          </a:xfrm>
          <a:prstGeom prst="rect">
            <a:avLst/>
          </a:prstGeom>
          <a:solidFill>
            <a:srgbClr val="EFC9B8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7498080" cy="4141946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5" name="Image 0" descr="Grafana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406640" cy="40505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64156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“DevOps Monitoring Dashboard” in Grafana with the Application Uptime, Request Latency and Error Rate panels.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229600" y="1371600"/>
            <a:ext cx="3502152" cy="1078992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31936" y="146304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UPTIME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94192" y="17556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whether the Flask application is currently available.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0" y="2560320"/>
            <a:ext cx="3502152" cy="1078992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31936" y="265176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B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LATENCY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394192" y="29443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request-duration behaviour over time.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0" y="3749040"/>
            <a:ext cx="3502152" cy="1078992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31936" y="384048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B6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394192" y="41330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HTTP 500 responses and demonstrates how application errors can be observed.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0" y="4983480"/>
            <a:ext cx="3502152" cy="1280160"/>
          </a:xfrm>
          <a:prstGeom prst="rect">
            <a:avLst/>
          </a:prstGeom>
          <a:solidFill>
            <a:srgbClr val="0E3F3B"/>
          </a:solidFill>
          <a:ln>
            <a:noFill/>
          </a:ln>
        </p:spPr>
      </p:sp>
      <p:sp>
        <p:nvSpPr>
          <p:cNvPr id="17" name="Text 14"/>
          <p:cNvSpPr txBox="1"/>
          <p:nvPr/>
        </p:nvSpPr>
        <p:spPr>
          <a:xfrm>
            <a:off x="8394192" y="5303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provides a single visual view of application health and performance, making operational issues easier to identify.</a:t>
            </a:r>
            <a:endParaRPr lang="en-US" sz="1300" dirty="0"/>
          </a:p>
        </p:txBody>
      </p:sp>
      <p:sp>
        <p:nvSpPr>
          <p:cNvPr id="20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1" lang="en-US" sz="1100">
                <a:solidFill>
                  <a:srgbClr val="CB6648"/>
                </a:solidFill>
                <a:latin typeface="Bookman Old Style"/>
              </a:rPr>
              <a:t>8</a:t>
            </a:fld>
            <a:endParaRPr lang="en-US"/>
          </a:p>
        </p:txBody>
      </p:sp>
      <p:sp>
        <p:nvSpPr>
          <p:cNvPr id="201" name="Dot 201"/>
          <p:cNvSpPr/>
          <p:nvPr/>
        </p:nvSpPr>
        <p:spPr>
          <a:xfrm>
            <a:off x="457200" y="265176"/>
            <a:ext cx="118872" cy="118872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3" name="Track 203"/>
          <p:cNvSpPr/>
          <p:nvPr/>
        </p:nvSpPr>
        <p:spPr>
          <a:xfrm>
            <a:off x="8732520" y="6624828"/>
            <a:ext cx="2304288" cy="0"/>
          </a:xfrm>
          <a:prstGeom prst="line">
            <a:avLst/>
          </a:prstGeom>
          <a:noFill/>
          <a:ln w="12700">
            <a:solidFill>
              <a:srgbClr val="D9CFBB"/>
            </a:solidFill>
            <a:prstDash val="solid"/>
          </a:ln>
        </p:spPr>
      </p:sp>
      <p:sp>
        <p:nvSpPr>
          <p:cNvPr id="204" name="Dot 204"/>
          <p:cNvSpPr/>
          <p:nvPr/>
        </p:nvSpPr>
        <p:spPr>
          <a:xfrm>
            <a:off x="8691372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5" name="Dot 205"/>
          <p:cNvSpPr/>
          <p:nvPr/>
        </p:nvSpPr>
        <p:spPr>
          <a:xfrm>
            <a:off x="8947404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6" name="Dot 206"/>
          <p:cNvSpPr/>
          <p:nvPr/>
        </p:nvSpPr>
        <p:spPr>
          <a:xfrm>
            <a:off x="9203436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7" name="Dot 207"/>
          <p:cNvSpPr/>
          <p:nvPr/>
        </p:nvSpPr>
        <p:spPr>
          <a:xfrm>
            <a:off x="9459468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8" name="Dot 208"/>
          <p:cNvSpPr/>
          <p:nvPr/>
        </p:nvSpPr>
        <p:spPr>
          <a:xfrm>
            <a:off x="9715500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9" name="Dot 209"/>
          <p:cNvSpPr/>
          <p:nvPr/>
        </p:nvSpPr>
        <p:spPr>
          <a:xfrm>
            <a:off x="9971532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10" name="Dot 210"/>
          <p:cNvSpPr/>
          <p:nvPr/>
        </p:nvSpPr>
        <p:spPr>
          <a:xfrm>
            <a:off x="10227564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11" name="Dot 211"/>
          <p:cNvSpPr/>
          <p:nvPr/>
        </p:nvSpPr>
        <p:spPr>
          <a:xfrm>
            <a:off x="10447020" y="6547104"/>
            <a:ext cx="155448" cy="155448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12" name="Dot 212"/>
          <p:cNvSpPr/>
          <p:nvPr/>
        </p:nvSpPr>
        <p:spPr>
          <a:xfrm>
            <a:off x="10739628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3" name="Dot 213"/>
          <p:cNvSpPr/>
          <p:nvPr/>
        </p:nvSpPr>
        <p:spPr>
          <a:xfrm>
            <a:off x="10995660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  <p:sp>
        <p:nvSpPr>
          <p:cNvPr id="215" name="Tape 215"/>
          <p:cNvSpPr/>
          <p:nvPr/>
        </p:nvSpPr>
        <p:spPr>
          <a:xfrm rot="180000">
            <a:off x="6789420" y="1138428"/>
            <a:ext cx="868680" cy="246888"/>
          </a:xfrm>
          <a:prstGeom prst="rect">
            <a:avLst/>
          </a:prstGeom>
          <a:solidFill>
            <a:srgbClr val="4B6E94">
              <a:alpha val="72000"/>
            </a:srgbClr>
          </a:solidFill>
          <a:ln>
            <a:noFill/>
          </a:ln>
        </p:spPr>
      </p:sp>
      <p:sp>
        <p:nvSpPr>
          <p:cNvPr id="216" name="Dot 216"/>
          <p:cNvSpPr/>
          <p:nvPr/>
        </p:nvSpPr>
        <p:spPr>
          <a:xfrm>
            <a:off x="8394192" y="1508760"/>
            <a:ext cx="128016" cy="12801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17" name="Dot 217"/>
          <p:cNvSpPr/>
          <p:nvPr/>
        </p:nvSpPr>
        <p:spPr>
          <a:xfrm>
            <a:off x="8394192" y="2697480"/>
            <a:ext cx="128016" cy="128016"/>
          </a:xfrm>
          <a:prstGeom prst="ellipse">
            <a:avLst/>
          </a:prstGeom>
          <a:solidFill>
            <a:srgbClr val="4B6E94"/>
          </a:solidFill>
          <a:ln>
            <a:noFill/>
          </a:ln>
        </p:spPr>
      </p:sp>
      <p:sp>
        <p:nvSpPr>
          <p:cNvPr id="218" name="Dot 218"/>
          <p:cNvSpPr/>
          <p:nvPr/>
        </p:nvSpPr>
        <p:spPr>
          <a:xfrm>
            <a:off x="8394192" y="3886200"/>
            <a:ext cx="128016" cy="128016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468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REFLECTION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02C"/>
                </a:solidFill>
                <a:latin typeface="Bookman Old Style"/>
                <a:ea typeface="Bookman Old Style"/>
                <a:cs typeface="Bookman Old Style"/>
              </a:rPr>
              <a:t>Challenges &amp; Solutions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B6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B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0" y="12801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1920240" cy="1060704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0E3F3B"/>
          </a:solidFill>
          <a:ln>
            <a:noFill/>
          </a:ln>
        </p:spPr>
      </p:sp>
      <p:sp>
        <p:nvSpPr>
          <p:cNvPr id="8" name="Text 6"/>
          <p:cNvSpPr txBox="1"/>
          <p:nvPr/>
        </p:nvSpPr>
        <p:spPr>
          <a:xfrm>
            <a:off x="566928" y="1627632"/>
            <a:ext cx="365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9C"/>
                </a:solidFill>
                <a:latin typeface="Bookman Old Style"/>
                <a:ea typeface="Bookman Old Style"/>
                <a:cs typeface="Bookman Old Style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27632"/>
            <a:ext cx="13258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dependency issue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880" y="1627632"/>
            <a:ext cx="2834640" cy="1060704"/>
          </a:xfrm>
          <a:prstGeom prst="rect">
            <a:avLst/>
          </a:prstGeom>
          <a:solidFill>
            <a:srgbClr val="FAE9E0"/>
          </a:solidFill>
          <a:ln w="9525">
            <a:solidFill>
              <a:srgbClr val="EBCD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70078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Ansible execution encountered a Python packaging / dependency issue.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1627632"/>
            <a:ext cx="3200400" cy="1060704"/>
          </a:xfrm>
          <a:prstGeom prst="rect">
            <a:avLst/>
          </a:prstGeom>
          <a:solidFill>
            <a:srgbClr val="E3EBF2"/>
          </a:solidFill>
          <a:ln w="9525">
            <a:solidFill>
              <a:srgbClr val="C9D6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170078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environment was created, the required dependency was installed, and the appropriate Python interpreter was explicitly selected.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0" y="1627632"/>
            <a:ext cx="3044952" cy="1060704"/>
          </a:xfrm>
          <a:prstGeom prst="rect">
            <a:avLst/>
          </a:prstGeom>
          <a:solidFill>
            <a:srgbClr val="DCE9E3"/>
          </a:solidFill>
          <a:ln w="9525">
            <a:solidFill>
              <a:srgbClr val="B7D1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23960" y="1700784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completed successfully: ok=4 | changed=3 | failed=0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12664" y="2157984"/>
            <a:ext cx="8229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04504" y="2157984"/>
            <a:ext cx="8229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2798064"/>
            <a:ext cx="1920240" cy="1060704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0E3F3B"/>
          </a:solidFill>
          <a:ln>
            <a:noFill/>
          </a:ln>
        </p:spPr>
      </p:sp>
      <p:sp>
        <p:nvSpPr>
          <p:cNvPr id="19" name="Text 17"/>
          <p:cNvSpPr txBox="1"/>
          <p:nvPr/>
        </p:nvSpPr>
        <p:spPr>
          <a:xfrm>
            <a:off x="566928" y="2798064"/>
            <a:ext cx="365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9C"/>
                </a:solidFill>
                <a:latin typeface="Bookman Old Style"/>
                <a:ea typeface="Bookman Old Style"/>
                <a:cs typeface="Bookman Old Style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798064"/>
            <a:ext cx="13258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version changes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68880" y="2798064"/>
            <a:ext cx="2834640" cy="1060704"/>
          </a:xfrm>
          <a:prstGeom prst="rect">
            <a:avLst/>
          </a:prstGeom>
          <a:solidFill>
            <a:srgbClr val="FAE9E0"/>
          </a:solidFill>
          <a:ln w="9525">
            <a:solidFill>
              <a:srgbClr val="EBCD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06040" y="287121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updates needed to be introduced without losing the running deployment.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0" y="2798064"/>
            <a:ext cx="3200400" cy="1060704"/>
          </a:xfrm>
          <a:prstGeom prst="rect">
            <a:avLst/>
          </a:prstGeom>
          <a:solidFill>
            <a:srgbClr val="E3EBF2"/>
          </a:solidFill>
          <a:ln w="9525">
            <a:solidFill>
              <a:srgbClr val="C9D6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32120" y="287121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Docker images (v1, v2) were used with Kubernetes rolling updates.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0" y="2798064"/>
            <a:ext cx="3044952" cy="1060704"/>
          </a:xfrm>
          <a:prstGeom prst="rect">
            <a:avLst/>
          </a:prstGeom>
          <a:solidFill>
            <a:srgbClr val="DCE9E3"/>
          </a:solidFill>
          <a:ln w="9525">
            <a:solidFill>
              <a:srgbClr val="B7D1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23960" y="2871216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was successfully updated to v2.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12664" y="3328416"/>
            <a:ext cx="8229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04504" y="3328416"/>
            <a:ext cx="8229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" y="3968496"/>
            <a:ext cx="1920240" cy="1060704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0E3F3B"/>
          </a:solidFill>
          <a:ln>
            <a:noFill/>
          </a:ln>
        </p:spPr>
      </p:sp>
      <p:sp>
        <p:nvSpPr>
          <p:cNvPr id="30" name="Text 28"/>
          <p:cNvSpPr txBox="1"/>
          <p:nvPr/>
        </p:nvSpPr>
        <p:spPr>
          <a:xfrm>
            <a:off x="566928" y="3968496"/>
            <a:ext cx="365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9C"/>
                </a:solidFill>
                <a:latin typeface="Bookman Old Style"/>
                <a:ea typeface="Bookman Old Style"/>
                <a:cs typeface="Bookman Old Style"/>
              </a:rPr>
              <a:t>3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3968496"/>
            <a:ext cx="13258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recovery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468880" y="3968496"/>
            <a:ext cx="2834640" cy="1060704"/>
          </a:xfrm>
          <a:prstGeom prst="rect">
            <a:avLst/>
          </a:prstGeom>
          <a:solidFill>
            <a:srgbClr val="FAE9E0"/>
          </a:solidFill>
          <a:ln w="9525">
            <a:solidFill>
              <a:srgbClr val="EBCDB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06040" y="404164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way to return to a known working version was required.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94960" y="3968496"/>
            <a:ext cx="3200400" cy="1060704"/>
          </a:xfrm>
          <a:prstGeom prst="rect">
            <a:avLst/>
          </a:prstGeom>
          <a:solidFill>
            <a:srgbClr val="E3EBF2"/>
          </a:solidFill>
          <a:ln w="9525">
            <a:solidFill>
              <a:srgbClr val="C9D6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32120" y="40416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rollout undo was used.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686800" y="3968496"/>
            <a:ext cx="3044952" cy="1060704"/>
          </a:xfrm>
          <a:prstGeom prst="rect">
            <a:avLst/>
          </a:prstGeom>
          <a:solidFill>
            <a:srgbClr val="DCE9E3"/>
          </a:solidFill>
          <a:ln w="9525">
            <a:solidFill>
              <a:srgbClr val="B7D1C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23960" y="4041648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v1 deployment was successfully restored.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312664" y="4498848"/>
            <a:ext cx="8229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604504" y="4498848"/>
            <a:ext cx="8229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57200" y="5138928"/>
            <a:ext cx="1920240" cy="1060704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0E3F3B"/>
          </a:solidFill>
          <a:ln>
            <a:noFill/>
          </a:ln>
        </p:spPr>
      </p:sp>
      <p:sp>
        <p:nvSpPr>
          <p:cNvPr id="41" name="Text 39"/>
          <p:cNvSpPr txBox="1"/>
          <p:nvPr/>
        </p:nvSpPr>
        <p:spPr>
          <a:xfrm>
            <a:off x="566928" y="5138928"/>
            <a:ext cx="365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9C"/>
                </a:solidFill>
                <a:latin typeface="Bookman Old Style"/>
                <a:ea typeface="Bookman Old Style"/>
                <a:cs typeface="Bookman Old Style"/>
              </a:rPr>
              <a:t>4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960120" y="5138928"/>
            <a:ext cx="13258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validation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468880" y="5138928"/>
            <a:ext cx="2834640" cy="1060704"/>
          </a:xfrm>
          <a:prstGeom prst="rect">
            <a:avLst/>
          </a:prstGeom>
          <a:solidFill>
            <a:srgbClr val="FAE9E0"/>
          </a:solidFill>
          <a:ln w="9525">
            <a:solidFill>
              <a:srgbClr val="EBCDB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606040" y="5212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health and errors needed to be measurable.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394960" y="5138928"/>
            <a:ext cx="3200400" cy="1060704"/>
          </a:xfrm>
          <a:prstGeom prst="rect">
            <a:avLst/>
          </a:prstGeom>
          <a:solidFill>
            <a:srgbClr val="E3EBF2"/>
          </a:solidFill>
          <a:ln w="9525">
            <a:solidFill>
              <a:srgbClr val="C9D6E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532120" y="5212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Flask Exporter, /metrics, Prometheus and Grafana were configured.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686800" y="5138928"/>
            <a:ext cx="3044952" cy="1060704"/>
          </a:xfrm>
          <a:prstGeom prst="rect">
            <a:avLst/>
          </a:prstGeom>
          <a:solidFill>
            <a:srgbClr val="DCE9E3"/>
          </a:solidFill>
          <a:ln w="9525">
            <a:solidFill>
              <a:srgbClr val="B7D1C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823960" y="5212080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Uptime, latency and HTTP 500 metrics became observable.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312664" y="5669280"/>
            <a:ext cx="8229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604504" y="5669280"/>
            <a:ext cx="82296" cy="0"/>
          </a:xfrm>
          <a:prstGeom prst="line">
            <a:avLst/>
          </a:prstGeom>
          <a:noFill/>
          <a:ln w="22225">
            <a:solidFill>
              <a:srgbClr val="5E6E69"/>
            </a:solidFill>
            <a:prstDash val="solid"/>
            <a:tailEnd type="triangle"/>
          </a:ln>
        </p:spPr>
      </p:sp>
      <p:sp>
        <p:nvSpPr>
          <p:cNvPr id="20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1" lang="en-US" sz="1100">
                <a:solidFill>
                  <a:srgbClr val="CB6648"/>
                </a:solidFill>
                <a:latin typeface="Bookman Old Style"/>
              </a:rPr>
              <a:t>9</a:t>
            </a:fld>
            <a:endParaRPr lang="en-US"/>
          </a:p>
        </p:txBody>
      </p:sp>
      <p:sp>
        <p:nvSpPr>
          <p:cNvPr id="201" name="Dot 201"/>
          <p:cNvSpPr/>
          <p:nvPr/>
        </p:nvSpPr>
        <p:spPr>
          <a:xfrm>
            <a:off x="457200" y="265176"/>
            <a:ext cx="118872" cy="118872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3" name="Track 203"/>
          <p:cNvSpPr/>
          <p:nvPr/>
        </p:nvSpPr>
        <p:spPr>
          <a:xfrm>
            <a:off x="8732520" y="6624828"/>
            <a:ext cx="2304288" cy="0"/>
          </a:xfrm>
          <a:prstGeom prst="line">
            <a:avLst/>
          </a:prstGeom>
          <a:noFill/>
          <a:ln w="12700">
            <a:solidFill>
              <a:srgbClr val="D9CFBB"/>
            </a:solidFill>
            <a:prstDash val="solid"/>
          </a:ln>
        </p:spPr>
      </p:sp>
      <p:sp>
        <p:nvSpPr>
          <p:cNvPr id="204" name="Dot 204"/>
          <p:cNvSpPr/>
          <p:nvPr/>
        </p:nvSpPr>
        <p:spPr>
          <a:xfrm>
            <a:off x="8691372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5" name="Dot 205"/>
          <p:cNvSpPr/>
          <p:nvPr/>
        </p:nvSpPr>
        <p:spPr>
          <a:xfrm>
            <a:off x="8947404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6" name="Dot 206"/>
          <p:cNvSpPr/>
          <p:nvPr/>
        </p:nvSpPr>
        <p:spPr>
          <a:xfrm>
            <a:off x="9203436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7" name="Dot 207"/>
          <p:cNvSpPr/>
          <p:nvPr/>
        </p:nvSpPr>
        <p:spPr>
          <a:xfrm>
            <a:off x="9459468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8" name="Dot 208"/>
          <p:cNvSpPr/>
          <p:nvPr/>
        </p:nvSpPr>
        <p:spPr>
          <a:xfrm>
            <a:off x="9715500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9" name="Dot 209"/>
          <p:cNvSpPr/>
          <p:nvPr/>
        </p:nvSpPr>
        <p:spPr>
          <a:xfrm>
            <a:off x="9971532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10" name="Dot 210"/>
          <p:cNvSpPr/>
          <p:nvPr/>
        </p:nvSpPr>
        <p:spPr>
          <a:xfrm>
            <a:off x="10227564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11" name="Dot 211"/>
          <p:cNvSpPr/>
          <p:nvPr/>
        </p:nvSpPr>
        <p:spPr>
          <a:xfrm>
            <a:off x="10483596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12" name="Dot 212"/>
          <p:cNvSpPr/>
          <p:nvPr/>
        </p:nvSpPr>
        <p:spPr>
          <a:xfrm>
            <a:off x="10703052" y="6547104"/>
            <a:ext cx="155448" cy="155448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13" name="Dot 213"/>
          <p:cNvSpPr/>
          <p:nvPr/>
        </p:nvSpPr>
        <p:spPr>
          <a:xfrm>
            <a:off x="10995660" y="6583680"/>
            <a:ext cx="82296" cy="82296"/>
          </a:xfrm>
          <a:prstGeom prst="ellipse">
            <a:avLst/>
          </a:prstGeom>
          <a:solidFill>
            <a:srgbClr val="F5EFE3"/>
          </a:solidFill>
          <a:ln w="12700">
            <a:solidFill>
              <a:srgbClr val="D9CFB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468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5–6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02C"/>
                </a:solidFill>
                <a:latin typeface="Bookman Old Style"/>
                <a:ea typeface="Bookman Old Style"/>
                <a:cs typeface="Bookman Old Style"/>
              </a:rPr>
              <a:t>Lessons Learned, External Challenge &amp; Outcome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5029200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improves repeatability.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reduces manual environment setup.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provides reproducible and versioned application packaging.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enables replicas, controlled updates and rollback.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and Grafana make application health measurable.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deployments make rollback practical.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749040" cy="5029200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B6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DEVOPS CHALLENGE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7190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participated in the DevOps Hackathon and completed the pre-final evaluation stage.</a:t>
            </a:r>
            <a:endParaRPr lang="en-US" sz="1300" dirty="0"/>
          </a:p>
        </p:txBody>
      </p:sp>
      <p:sp>
        <p:nvSpPr>
          <p:cNvPr id="214" name="Offset 214"/>
          <p:cNvSpPr/>
          <p:nvPr/>
        </p:nvSpPr>
        <p:spPr>
          <a:xfrm>
            <a:off x="5614416" y="2414016"/>
            <a:ext cx="1920240" cy="2884201"/>
          </a:xfrm>
          <a:prstGeom prst="rect">
            <a:avLst/>
          </a:prstGeom>
          <a:solidFill>
            <a:srgbClr val="EFC9B8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5532120" y="2331720"/>
            <a:ext cx="1920240" cy="2884201"/>
          </a:xfrm>
          <a:prstGeom prst="rect">
            <a:avLst/>
          </a:prstGeom>
          <a:solidFill>
            <a:srgbClr val="FFFCF6"/>
          </a:solidFill>
          <a:ln w="9525">
            <a:solidFill>
              <a:srgbClr val="D9CFBB"/>
            </a:solidFill>
            <a:prstDash val="solid"/>
          </a:ln>
        </p:spPr>
      </p:sp>
      <p:pic>
        <p:nvPicPr>
          <p:cNvPr id="11" name="Image 0" descr="hackathon em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2377440"/>
            <a:ext cx="1828800" cy="279276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846320" y="5371369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participation / evaluation email from the DevOps Hackathon (team was not selected for the Final Judgment Day).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95360" y="1280160"/>
            <a:ext cx="3136392" cy="5029200"/>
          </a:xfrm>
          <a:prstGeom prst="rect">
            <a:avLst/>
          </a:prstGeom>
          <a:solidFill>
            <a:srgbClr val="0E3F3B"/>
          </a:solidFill>
          <a:ln>
            <a:noFill/>
          </a:ln>
        </p:spPr>
      </p:sp>
      <p:sp>
        <p:nvSpPr>
          <p:cNvPr id="14" name="Text 11"/>
          <p:cNvSpPr txBox="1"/>
          <p:nvPr/>
        </p:nvSpPr>
        <p:spPr>
          <a:xfrm>
            <a:off x="8778240" y="1389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OUTCOME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17190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DevOps workflow demonstrated: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915400" y="2331720"/>
            <a:ext cx="2514600" cy="411480"/>
          </a:xfrm>
          <a:prstGeom prst="round2DiagRect">
            <a:avLst>
              <a:gd name="adj1" fmla="val 22000"/>
              <a:gd name="adj2" fmla="val 0"/>
            </a:avLst>
          </a:prstGeom>
          <a:solidFill>
            <a:srgbClr val="F5EFE3"/>
          </a:solidFill>
          <a:ln>
            <a:noFill/>
          </a:ln>
        </p:spPr>
      </p:sp>
      <p:sp>
        <p:nvSpPr>
          <p:cNvPr id="17" name="Text 14"/>
          <p:cNvSpPr txBox="1"/>
          <p:nvPr/>
        </p:nvSpPr>
        <p:spPr>
          <a:xfrm>
            <a:off x="8988552" y="233172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0172700" y="2752344"/>
            <a:ext cx="0" cy="128016"/>
          </a:xfrm>
          <a:prstGeom prst="line">
            <a:avLst/>
          </a:prstGeom>
          <a:noFill/>
          <a:ln w="22225">
            <a:solidFill>
              <a:srgbClr val="C9DAD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915400" y="2898648"/>
            <a:ext cx="2514600" cy="411480"/>
          </a:xfrm>
          <a:prstGeom prst="round2DiagRect">
            <a:avLst>
              <a:gd name="adj1" fmla="val 22000"/>
              <a:gd name="adj2" fmla="val 0"/>
            </a:avLst>
          </a:prstGeom>
          <a:solidFill>
            <a:srgbClr val="F5EFE3"/>
          </a:solidFill>
          <a:ln>
            <a:noFill/>
          </a:ln>
        </p:spPr>
      </p:sp>
      <p:sp>
        <p:nvSpPr>
          <p:cNvPr id="20" name="Text 17"/>
          <p:cNvSpPr txBox="1"/>
          <p:nvPr/>
        </p:nvSpPr>
        <p:spPr>
          <a:xfrm>
            <a:off x="8988552" y="289864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0172700" y="3319272"/>
            <a:ext cx="0" cy="128016"/>
          </a:xfrm>
          <a:prstGeom prst="line">
            <a:avLst/>
          </a:prstGeom>
          <a:noFill/>
          <a:ln w="22225">
            <a:solidFill>
              <a:srgbClr val="C9DAD3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915400" y="3465576"/>
            <a:ext cx="2514600" cy="411480"/>
          </a:xfrm>
          <a:prstGeom prst="round2DiagRect">
            <a:avLst>
              <a:gd name="adj1" fmla="val 22000"/>
              <a:gd name="adj2" fmla="val 0"/>
            </a:avLst>
          </a:prstGeom>
          <a:solidFill>
            <a:srgbClr val="F5EFE3"/>
          </a:solidFill>
          <a:ln>
            <a:noFill/>
          </a:ln>
        </p:spPr>
      </p:sp>
      <p:sp>
        <p:nvSpPr>
          <p:cNvPr id="23" name="Text 20"/>
          <p:cNvSpPr txBox="1"/>
          <p:nvPr/>
        </p:nvSpPr>
        <p:spPr>
          <a:xfrm>
            <a:off x="8988552" y="3465576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10172700" y="3886200"/>
            <a:ext cx="0" cy="128016"/>
          </a:xfrm>
          <a:prstGeom prst="line">
            <a:avLst/>
          </a:prstGeom>
          <a:noFill/>
          <a:ln w="22225">
            <a:solidFill>
              <a:srgbClr val="C9DAD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915400" y="4032504"/>
            <a:ext cx="2514600" cy="411480"/>
          </a:xfrm>
          <a:prstGeom prst="round2DiagRect">
            <a:avLst>
              <a:gd name="adj1" fmla="val 22000"/>
              <a:gd name="adj2" fmla="val 0"/>
            </a:avLst>
          </a:prstGeom>
          <a:solidFill>
            <a:srgbClr val="F5EFE3"/>
          </a:solidFill>
          <a:ln>
            <a:noFill/>
          </a:ln>
        </p:spPr>
      </p:sp>
      <p:sp>
        <p:nvSpPr>
          <p:cNvPr id="26" name="Text 23"/>
          <p:cNvSpPr txBox="1"/>
          <p:nvPr/>
        </p:nvSpPr>
        <p:spPr>
          <a:xfrm>
            <a:off x="8988552" y="4032504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10172700" y="4453128"/>
            <a:ext cx="0" cy="128016"/>
          </a:xfrm>
          <a:prstGeom prst="line">
            <a:avLst/>
          </a:prstGeom>
          <a:noFill/>
          <a:ln w="22225">
            <a:solidFill>
              <a:srgbClr val="C9DAD3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915400" y="4599432"/>
            <a:ext cx="2514600" cy="411480"/>
          </a:xfrm>
          <a:prstGeom prst="round2DiagRect">
            <a:avLst>
              <a:gd name="adj1" fmla="val 22000"/>
              <a:gd name="adj2" fmla="val 0"/>
            </a:avLst>
          </a:prstGeom>
          <a:solidFill>
            <a:srgbClr val="F5EFE3"/>
          </a:solidFill>
          <a:ln>
            <a:noFill/>
          </a:ln>
        </p:spPr>
      </p:sp>
      <p:sp>
        <p:nvSpPr>
          <p:cNvPr id="29" name="Text 26"/>
          <p:cNvSpPr txBox="1"/>
          <p:nvPr/>
        </p:nvSpPr>
        <p:spPr>
          <a:xfrm>
            <a:off x="8988552" y="459943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10172700" y="5020056"/>
            <a:ext cx="0" cy="128016"/>
          </a:xfrm>
          <a:prstGeom prst="line">
            <a:avLst/>
          </a:prstGeom>
          <a:noFill/>
          <a:ln w="22225">
            <a:solidFill>
              <a:srgbClr val="C9DAD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915400" y="5166360"/>
            <a:ext cx="2514600" cy="411480"/>
          </a:xfrm>
          <a:prstGeom prst="round2DiagRect">
            <a:avLst>
              <a:gd name="adj1" fmla="val 22000"/>
              <a:gd name="adj2" fmla="val 0"/>
            </a:avLst>
          </a:prstGeom>
          <a:solidFill>
            <a:srgbClr val="CB6648"/>
          </a:solidFill>
          <a:ln>
            <a:noFill/>
          </a:ln>
        </p:spPr>
      </p:sp>
      <p:sp>
        <p:nvSpPr>
          <p:cNvPr id="32" name="Text 29"/>
          <p:cNvSpPr txBox="1"/>
          <p:nvPr/>
        </p:nvSpPr>
        <p:spPr>
          <a:xfrm>
            <a:off x="8988552" y="51663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10172700" y="5586984"/>
            <a:ext cx="0" cy="128016"/>
          </a:xfrm>
          <a:prstGeom prst="line">
            <a:avLst/>
          </a:prstGeom>
          <a:noFill/>
          <a:ln w="22225">
            <a:solidFill>
              <a:srgbClr val="C9DAD3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915400" y="5733288"/>
            <a:ext cx="2514600" cy="411480"/>
          </a:xfrm>
          <a:prstGeom prst="round2DiagRect">
            <a:avLst>
              <a:gd name="adj1" fmla="val 22000"/>
              <a:gd name="adj2" fmla="val 0"/>
            </a:avLst>
          </a:prstGeom>
          <a:solidFill>
            <a:srgbClr val="4B6E94"/>
          </a:solidFill>
          <a:ln>
            <a:noFill/>
          </a:ln>
        </p:spPr>
      </p:sp>
      <p:sp>
        <p:nvSpPr>
          <p:cNvPr id="35" name="Text 32"/>
          <p:cNvSpPr txBox="1"/>
          <p:nvPr/>
        </p:nvSpPr>
        <p:spPr>
          <a:xfrm>
            <a:off x="8988552" y="573328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20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1" lang="en-US" sz="1100">
                <a:solidFill>
                  <a:srgbClr val="CB6648"/>
                </a:solidFill>
                <a:latin typeface="Bookman Old Style"/>
              </a:rPr>
              <a:t>10</a:t>
            </a:fld>
            <a:endParaRPr lang="en-US"/>
          </a:p>
        </p:txBody>
      </p:sp>
      <p:sp>
        <p:nvSpPr>
          <p:cNvPr id="201" name="Dot 201"/>
          <p:cNvSpPr/>
          <p:nvPr/>
        </p:nvSpPr>
        <p:spPr>
          <a:xfrm>
            <a:off x="457200" y="265176"/>
            <a:ext cx="118872" cy="118872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03" name="Track 203"/>
          <p:cNvSpPr/>
          <p:nvPr/>
        </p:nvSpPr>
        <p:spPr>
          <a:xfrm>
            <a:off x="8732520" y="6624828"/>
            <a:ext cx="2304288" cy="0"/>
          </a:xfrm>
          <a:prstGeom prst="line">
            <a:avLst/>
          </a:prstGeom>
          <a:noFill/>
          <a:ln w="12700">
            <a:solidFill>
              <a:srgbClr val="D9CFBB"/>
            </a:solidFill>
            <a:prstDash val="solid"/>
          </a:ln>
        </p:spPr>
      </p:sp>
      <p:sp>
        <p:nvSpPr>
          <p:cNvPr id="204" name="Dot 204"/>
          <p:cNvSpPr/>
          <p:nvPr/>
        </p:nvSpPr>
        <p:spPr>
          <a:xfrm>
            <a:off x="8691372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5" name="Dot 205"/>
          <p:cNvSpPr/>
          <p:nvPr/>
        </p:nvSpPr>
        <p:spPr>
          <a:xfrm>
            <a:off x="8947404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6" name="Dot 206"/>
          <p:cNvSpPr/>
          <p:nvPr/>
        </p:nvSpPr>
        <p:spPr>
          <a:xfrm>
            <a:off x="9203436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7" name="Dot 207"/>
          <p:cNvSpPr/>
          <p:nvPr/>
        </p:nvSpPr>
        <p:spPr>
          <a:xfrm>
            <a:off x="9459468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8" name="Dot 208"/>
          <p:cNvSpPr/>
          <p:nvPr/>
        </p:nvSpPr>
        <p:spPr>
          <a:xfrm>
            <a:off x="9715500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09" name="Dot 209"/>
          <p:cNvSpPr/>
          <p:nvPr/>
        </p:nvSpPr>
        <p:spPr>
          <a:xfrm>
            <a:off x="9971532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10" name="Dot 210"/>
          <p:cNvSpPr/>
          <p:nvPr/>
        </p:nvSpPr>
        <p:spPr>
          <a:xfrm>
            <a:off x="10227564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11" name="Dot 211"/>
          <p:cNvSpPr/>
          <p:nvPr/>
        </p:nvSpPr>
        <p:spPr>
          <a:xfrm>
            <a:off x="10483596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12" name="Dot 212"/>
          <p:cNvSpPr/>
          <p:nvPr/>
        </p:nvSpPr>
        <p:spPr>
          <a:xfrm>
            <a:off x="10739628" y="6583680"/>
            <a:ext cx="82296" cy="82296"/>
          </a:xfrm>
          <a:prstGeom prst="ellipse">
            <a:avLst/>
          </a:prstGeom>
          <a:solidFill>
            <a:srgbClr val="1F6F68"/>
          </a:solidFill>
          <a:ln>
            <a:noFill/>
          </a:ln>
        </p:spPr>
      </p:sp>
      <p:sp>
        <p:nvSpPr>
          <p:cNvPr id="213" name="Dot 213"/>
          <p:cNvSpPr/>
          <p:nvPr/>
        </p:nvSpPr>
        <p:spPr>
          <a:xfrm>
            <a:off x="10959084" y="6547104"/>
            <a:ext cx="155448" cy="155448"/>
          </a:xfrm>
          <a:prstGeom prst="ellipse">
            <a:avLst/>
          </a:prstGeom>
          <a:solidFill>
            <a:srgbClr val="CB6648"/>
          </a:solidFill>
          <a:ln>
            <a:noFill/>
          </a:ln>
        </p:spPr>
      </p:sp>
      <p:sp>
        <p:nvSpPr>
          <p:cNvPr id="215" name="Tape 215"/>
          <p:cNvSpPr/>
          <p:nvPr/>
        </p:nvSpPr>
        <p:spPr>
          <a:xfrm rot="-180000">
            <a:off x="6057900" y="2098548"/>
            <a:ext cx="868680" cy="246888"/>
          </a:xfrm>
          <a:prstGeom prst="rect">
            <a:avLst/>
          </a:prstGeom>
          <a:solidFill>
            <a:srgbClr val="4B6E94">
              <a:alpha val="72000"/>
            </a:srgbClr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ipeline Paper">
  <a:themeElements>
    <a:clrScheme name="Pipeline Paper">
      <a:dk1>
        <a:srgbClr val="17302C"/>
      </a:dk1>
      <a:lt1>
        <a:srgbClr val="FFFCF6"/>
      </a:lt1>
      <a:dk2>
        <a:srgbClr val="0E3F3B"/>
      </a:dk2>
      <a:lt2>
        <a:srgbClr val="F5EFE3"/>
      </a:lt2>
      <a:accent1>
        <a:srgbClr val="1F6F68"/>
      </a:accent1>
      <a:accent2>
        <a:srgbClr val="CB6648"/>
      </a:accent2>
      <a:accent3>
        <a:srgbClr val="5E6E69"/>
      </a:accent3>
      <a:accent4>
        <a:srgbClr val="DCE9E3"/>
      </a:accent4>
      <a:accent5>
        <a:srgbClr val="FAE9E0"/>
      </a:accent5>
      <a:accent6>
        <a:srgbClr val="4B6E94"/>
      </a:accent6>
      <a:hlink>
        <a:srgbClr val="1F6F68"/>
      </a:hlink>
      <a:folHlink>
        <a:srgbClr val="5E6E69"/>
      </a:folHlink>
    </a:clrScheme>
    <a:fontScheme name="Pipeline Paper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CA2 Practical Project</dc:title>
  <dc:subject>PptxGenJS Presentation</dc:subject>
  <dc:creator>Gayatri Patil, Pritika Kurup, Jesline Pinto, Omika Shrestha</dc:creator>
  <cp:lastModifiedBy>Gayatri Patil, Pritika Kurup, Jesline Pinto, Omika Shrestha</cp:lastModifiedBy>
  <cp:revision>1</cp:revision>
  <dcterms:created xsi:type="dcterms:W3CDTF">2026-10-04T10:31:58Z</dcterms:created>
  <dcterms:modified xsi:type="dcterms:W3CDTF">2026-10-04T10:31:58Z</dcterms:modified>
</cp:coreProperties>
</file>